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kzO52fv0njwgrZ18WyEX9EkUO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a:t>Creo que el logo de color rojo es más apropiado. Yo le incoporaría el árbol del logo azul, conisiderando que las investigaciones en ciencias sociales pueden integrar una perspectiva ecológica para explicar distintos fenómenos. Además, desde Costa Rica, la profesora Magaly R. y yo trabajaremos desde las ciencias naturales.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8" name="Shape 38"/>
        <p:cNvGrpSpPr/>
        <p:nvPr/>
      </p:nvGrpSpPr>
      <p:grpSpPr>
        <a:xfrm>
          <a:off x="0" y="0"/>
          <a:ext cx="0" cy="0"/>
          <a:chOff x="0" y="0"/>
          <a:chExt cx="0" cy="0"/>
        </a:xfrm>
      </p:grpSpPr>
      <p:sp>
        <p:nvSpPr>
          <p:cNvPr id="39" name="Google Shape;39;p20"/>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0"/>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4" name="Google Shape;44;p20"/>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45" name="Shape 45"/>
        <p:cNvGrpSpPr/>
        <p:nvPr/>
      </p:nvGrpSpPr>
      <p:grpSpPr>
        <a:xfrm>
          <a:off x="0" y="0"/>
          <a:ext cx="0" cy="0"/>
          <a:chOff x="0" y="0"/>
          <a:chExt cx="0" cy="0"/>
        </a:xfrm>
      </p:grpSpPr>
      <p:sp>
        <p:nvSpPr>
          <p:cNvPr id="46" name="Google Shape;46;p2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21"/>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9" name="Google Shape;49;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53" name="Google Shape;53;p2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accent1"/>
                </a:solidFill>
                <a:latin typeface="Arial"/>
                <a:ea typeface="Arial"/>
                <a:cs typeface="Arial"/>
                <a:sym typeface="Arial"/>
              </a:rPr>
              <a:t>“</a:t>
            </a:r>
            <a:endParaRPr/>
          </a:p>
        </p:txBody>
      </p:sp>
      <p:sp>
        <p:nvSpPr>
          <p:cNvPr id="54" name="Google Shape;54;p2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accent1"/>
                </a:solidFill>
                <a:latin typeface="Arial"/>
                <a:ea typeface="Arial"/>
                <a:cs typeface="Arial"/>
                <a:sym typeface="Arial"/>
              </a:rPr>
              <a: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5" name="Shape 55"/>
        <p:cNvGrpSpPr/>
        <p:nvPr/>
      </p:nvGrpSpPr>
      <p:grpSpPr>
        <a:xfrm>
          <a:off x="0" y="0"/>
          <a:ext cx="0" cy="0"/>
          <a:chOff x="0" y="0"/>
          <a:chExt cx="0" cy="0"/>
        </a:xfrm>
      </p:grpSpPr>
      <p:sp>
        <p:nvSpPr>
          <p:cNvPr id="56" name="Google Shape;56;p2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8" name="Google Shape;58;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62" name="Shape 62"/>
        <p:cNvGrpSpPr/>
        <p:nvPr/>
      </p:nvGrpSpPr>
      <p:grpSpPr>
        <a:xfrm>
          <a:off x="0" y="0"/>
          <a:ext cx="0" cy="0"/>
          <a:chOff x="0" y="0"/>
          <a:chExt cx="0" cy="0"/>
        </a:xfrm>
      </p:grpSpPr>
      <p:sp>
        <p:nvSpPr>
          <p:cNvPr id="63" name="Google Shape;63;p23"/>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65" name="Google Shape;65;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9" name="Shape 69"/>
        <p:cNvGrpSpPr/>
        <p:nvPr/>
      </p:nvGrpSpPr>
      <p:grpSpPr>
        <a:xfrm>
          <a:off x="0" y="0"/>
          <a:ext cx="0" cy="0"/>
          <a:chOff x="0" y="0"/>
          <a:chExt cx="0" cy="0"/>
        </a:xfrm>
      </p:grpSpPr>
      <p:sp>
        <p:nvSpPr>
          <p:cNvPr id="70" name="Google Shape;70;p2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2" name="Google Shape;72;p24"/>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7" name="Shape 77"/>
        <p:cNvGrpSpPr/>
        <p:nvPr/>
      </p:nvGrpSpPr>
      <p:grpSpPr>
        <a:xfrm>
          <a:off x="0" y="0"/>
          <a:ext cx="0" cy="0"/>
          <a:chOff x="0" y="0"/>
          <a:chExt cx="0" cy="0"/>
        </a:xfrm>
      </p:grpSpPr>
      <p:sp>
        <p:nvSpPr>
          <p:cNvPr id="78" name="Google Shape;78;p2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0" name="Google Shape;80;p25"/>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1" name="Google Shape;81;p25"/>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2" name="Google Shape;82;p25"/>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3" name="Google Shape;83;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87" name="Shape 87"/>
        <p:cNvGrpSpPr/>
        <p:nvPr/>
      </p:nvGrpSpPr>
      <p:grpSpPr>
        <a:xfrm>
          <a:off x="0" y="0"/>
          <a:ext cx="0" cy="0"/>
          <a:chOff x="0" y="0"/>
          <a:chExt cx="0" cy="0"/>
        </a:xfrm>
      </p:grpSpPr>
      <p:sp>
        <p:nvSpPr>
          <p:cNvPr id="88" name="Google Shape;88;p2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93" name="Shape 93"/>
        <p:cNvGrpSpPr/>
        <p:nvPr/>
      </p:nvGrpSpPr>
      <p:grpSpPr>
        <a:xfrm>
          <a:off x="0" y="0"/>
          <a:ext cx="0" cy="0"/>
          <a:chOff x="0" y="0"/>
          <a:chExt cx="0" cy="0"/>
        </a:xfrm>
      </p:grpSpPr>
      <p:sp>
        <p:nvSpPr>
          <p:cNvPr id="94" name="Google Shape;94;p2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98" name="Shape 98"/>
        <p:cNvGrpSpPr/>
        <p:nvPr/>
      </p:nvGrpSpPr>
      <p:grpSpPr>
        <a:xfrm>
          <a:off x="0" y="0"/>
          <a:ext cx="0" cy="0"/>
          <a:chOff x="0" y="0"/>
          <a:chExt cx="0" cy="0"/>
        </a:xfrm>
      </p:grpSpPr>
      <p:sp>
        <p:nvSpPr>
          <p:cNvPr id="99" name="Google Shape;99;p28"/>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8"/>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01" name="Google Shape;101;p28"/>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2" name="Google Shape;102;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06" name="Shape 106"/>
        <p:cNvGrpSpPr/>
        <p:nvPr/>
      </p:nvGrpSpPr>
      <p:grpSpPr>
        <a:xfrm>
          <a:off x="0" y="0"/>
          <a:ext cx="0" cy="0"/>
          <a:chOff x="0" y="0"/>
          <a:chExt cx="0" cy="0"/>
        </a:xfrm>
      </p:grpSpPr>
      <p:sp>
        <p:nvSpPr>
          <p:cNvPr id="107" name="Google Shape;107;p29"/>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9"/>
          <p:cNvSpPr/>
          <p:nvPr>
            <p:ph idx="2" type="pic"/>
          </p:nvPr>
        </p:nvSpPr>
        <p:spPr>
          <a:xfrm>
            <a:off x="2589212" y="634965"/>
            <a:ext cx="8915400" cy="3854970"/>
          </a:xfrm>
          <a:prstGeom prst="rect">
            <a:avLst/>
          </a:prstGeom>
          <a:noFill/>
          <a:ln>
            <a:noFill/>
          </a:ln>
        </p:spPr>
      </p:sp>
      <p:sp>
        <p:nvSpPr>
          <p:cNvPr id="109" name="Google Shape;109;p29"/>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10" name="Google Shape;110;p2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9"/>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9"/>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114" name="Shape 114"/>
        <p:cNvGrpSpPr/>
        <p:nvPr/>
      </p:nvGrpSpPr>
      <p:grpSpPr>
        <a:xfrm>
          <a:off x="0" y="0"/>
          <a:ext cx="0" cy="0"/>
          <a:chOff x="0" y="0"/>
          <a:chExt cx="0" cy="0"/>
        </a:xfrm>
      </p:grpSpPr>
      <p:sp>
        <p:nvSpPr>
          <p:cNvPr id="115" name="Google Shape;115;p30"/>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0"/>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7" name="Google Shape;117;p3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21" name="Shape 121"/>
        <p:cNvGrpSpPr/>
        <p:nvPr/>
      </p:nvGrpSpPr>
      <p:grpSpPr>
        <a:xfrm>
          <a:off x="0" y="0"/>
          <a:ext cx="0" cy="0"/>
          <a:chOff x="0" y="0"/>
          <a:chExt cx="0" cy="0"/>
        </a:xfrm>
      </p:grpSpPr>
      <p:sp>
        <p:nvSpPr>
          <p:cNvPr id="122" name="Google Shape;122;p3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1"/>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31"/>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25" name="Google Shape;125;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129" name="Google Shape;129;p3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accent1"/>
                </a:solidFill>
                <a:latin typeface="Arial"/>
                <a:ea typeface="Arial"/>
                <a:cs typeface="Arial"/>
                <a:sym typeface="Arial"/>
              </a:rPr>
              <a:t>“</a:t>
            </a:r>
            <a:endParaRPr/>
          </a:p>
        </p:txBody>
      </p:sp>
      <p:sp>
        <p:nvSpPr>
          <p:cNvPr id="130" name="Google Shape;130;p3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8000">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31" name="Shape 131"/>
        <p:cNvGrpSpPr/>
        <p:nvPr/>
      </p:nvGrpSpPr>
      <p:grpSpPr>
        <a:xfrm>
          <a:off x="0" y="0"/>
          <a:ext cx="0" cy="0"/>
          <a:chOff x="0" y="0"/>
          <a:chExt cx="0" cy="0"/>
        </a:xfrm>
      </p:grpSpPr>
      <p:sp>
        <p:nvSpPr>
          <p:cNvPr id="132" name="Google Shape;132;p32"/>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2"/>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4" name="Google Shape;134;p3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38" name="Shape 138"/>
        <p:cNvGrpSpPr/>
        <p:nvPr/>
      </p:nvGrpSpPr>
      <p:grpSpPr>
        <a:xfrm>
          <a:off x="0" y="0"/>
          <a:ext cx="0" cy="0"/>
          <a:chOff x="0" y="0"/>
          <a:chExt cx="0" cy="0"/>
        </a:xfrm>
      </p:grpSpPr>
      <p:sp>
        <p:nvSpPr>
          <p:cNvPr id="139" name="Google Shape;139;p3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3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3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6" name="Shape 146"/>
        <p:cNvGrpSpPr/>
        <p:nvPr/>
      </p:nvGrpSpPr>
      <p:grpSpPr>
        <a:xfrm>
          <a:off x="0" y="0"/>
          <a:ext cx="0" cy="0"/>
          <a:chOff x="0" y="0"/>
          <a:chExt cx="0" cy="0"/>
        </a:xfrm>
      </p:grpSpPr>
      <p:sp>
        <p:nvSpPr>
          <p:cNvPr id="147" name="Google Shape;147;p3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3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3" name="Shape 153"/>
        <p:cNvGrpSpPr/>
        <p:nvPr/>
      </p:nvGrpSpPr>
      <p:grpSpPr>
        <a:xfrm>
          <a:off x="0" y="0"/>
          <a:ext cx="0" cy="0"/>
          <a:chOff x="0" y="0"/>
          <a:chExt cx="0" cy="0"/>
        </a:xfrm>
      </p:grpSpPr>
      <p:sp>
        <p:nvSpPr>
          <p:cNvPr id="154" name="Google Shape;154;p3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3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19"/>
          <p:cNvGrpSpPr/>
          <p:nvPr/>
        </p:nvGrpSpPr>
        <p:grpSpPr>
          <a:xfrm>
            <a:off x="1" y="228600"/>
            <a:ext cx="2851516" cy="6638628"/>
            <a:chOff x="2487613" y="285750"/>
            <a:chExt cx="2428875" cy="5654676"/>
          </a:xfrm>
        </p:grpSpPr>
        <p:sp>
          <p:nvSpPr>
            <p:cNvPr id="7" name="Google Shape;7;p19"/>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8" name="Google Shape;8;p19"/>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9" name="Google Shape;9;p19"/>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p19"/>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1" name="Google Shape;11;p19"/>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2" name="Google Shape;12;p19"/>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3" name="Google Shape;13;p19"/>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4" name="Google Shape;14;p19"/>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 name="Google Shape;15;p19"/>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 name="Google Shape;16;p19"/>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7" name="Google Shape;17;p19"/>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 name="Google Shape;18;p19"/>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nvGrpSpPr>
          <p:cNvPr id="19" name="Google Shape;19;p19"/>
          <p:cNvGrpSpPr/>
          <p:nvPr/>
        </p:nvGrpSpPr>
        <p:grpSpPr>
          <a:xfrm>
            <a:off x="27221" y="-786"/>
            <a:ext cx="2356674" cy="6854039"/>
            <a:chOff x="6627813" y="194833"/>
            <a:chExt cx="1952625" cy="5678918"/>
          </a:xfrm>
        </p:grpSpPr>
        <p:sp>
          <p:nvSpPr>
            <p:cNvPr id="20" name="Google Shape;20;p19"/>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 name="Google Shape;21;p19"/>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 name="Google Shape;22;p19"/>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 name="Google Shape;23;p19"/>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4" name="Google Shape;24;p19"/>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19"/>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 name="Google Shape;26;p19"/>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 name="Google Shape;27;p19"/>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8" name="Google Shape;28;p19"/>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9" name="Google Shape;29;p19"/>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0" name="Google Shape;30;p19"/>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1" name="Google Shape;31;p19"/>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32" name="Google Shape;32;p19"/>
          <p:cNvSpPr/>
          <p:nvPr/>
        </p:nvSpPr>
        <p:spPr>
          <a:xfrm>
            <a:off x="0" y="0"/>
            <a:ext cx="182880" cy="6858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 name="Google Shape;33;p1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9"/>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9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2000" u="none">
                <a:solidFill>
                  <a:srgbClr val="FEFFFF"/>
                </a:solidFill>
                <a:latin typeface="Century Gothic"/>
                <a:ea typeface="Century Gothic"/>
                <a:cs typeface="Century Gothic"/>
                <a:sym typeface="Century Gothic"/>
              </a:defRPr>
            </a:lvl1pPr>
            <a:lvl2pPr indent="0" lvl="1" marL="0" marR="0" rtl="0" algn="r">
              <a:spcBef>
                <a:spcPts val="0"/>
              </a:spcBef>
              <a:buNone/>
              <a:defRPr b="0" sz="2000" u="none">
                <a:solidFill>
                  <a:srgbClr val="FEFFFF"/>
                </a:solidFill>
                <a:latin typeface="Century Gothic"/>
                <a:ea typeface="Century Gothic"/>
                <a:cs typeface="Century Gothic"/>
                <a:sym typeface="Century Gothic"/>
              </a:defRPr>
            </a:lvl2pPr>
            <a:lvl3pPr indent="0" lvl="2" marL="0" marR="0" rtl="0" algn="r">
              <a:spcBef>
                <a:spcPts val="0"/>
              </a:spcBef>
              <a:buNone/>
              <a:defRPr b="0" sz="2000" u="none">
                <a:solidFill>
                  <a:srgbClr val="FEFFFF"/>
                </a:solidFill>
                <a:latin typeface="Century Gothic"/>
                <a:ea typeface="Century Gothic"/>
                <a:cs typeface="Century Gothic"/>
                <a:sym typeface="Century Gothic"/>
              </a:defRPr>
            </a:lvl3pPr>
            <a:lvl4pPr indent="0" lvl="3" marL="0" marR="0" rtl="0" algn="r">
              <a:spcBef>
                <a:spcPts val="0"/>
              </a:spcBef>
              <a:buNone/>
              <a:defRPr b="0" sz="2000" u="none">
                <a:solidFill>
                  <a:srgbClr val="FEFFFF"/>
                </a:solidFill>
                <a:latin typeface="Century Gothic"/>
                <a:ea typeface="Century Gothic"/>
                <a:cs typeface="Century Gothic"/>
                <a:sym typeface="Century Gothic"/>
              </a:defRPr>
            </a:lvl4pPr>
            <a:lvl5pPr indent="0" lvl="4" marL="0" marR="0" rtl="0" algn="r">
              <a:spcBef>
                <a:spcPts val="0"/>
              </a:spcBef>
              <a:buNone/>
              <a:defRPr b="0" sz="2000" u="none">
                <a:solidFill>
                  <a:srgbClr val="FEFFFF"/>
                </a:solidFill>
                <a:latin typeface="Century Gothic"/>
                <a:ea typeface="Century Gothic"/>
                <a:cs typeface="Century Gothic"/>
                <a:sym typeface="Century Gothic"/>
              </a:defRPr>
            </a:lvl5pPr>
            <a:lvl6pPr indent="0" lvl="5" marL="0" marR="0" rtl="0" algn="r">
              <a:spcBef>
                <a:spcPts val="0"/>
              </a:spcBef>
              <a:buNone/>
              <a:defRPr b="0" sz="2000" u="none">
                <a:solidFill>
                  <a:srgbClr val="FEFFFF"/>
                </a:solidFill>
                <a:latin typeface="Century Gothic"/>
                <a:ea typeface="Century Gothic"/>
                <a:cs typeface="Century Gothic"/>
                <a:sym typeface="Century Gothic"/>
              </a:defRPr>
            </a:lvl6pPr>
            <a:lvl7pPr indent="0" lvl="6" marL="0" marR="0" rtl="0" algn="r">
              <a:spcBef>
                <a:spcPts val="0"/>
              </a:spcBef>
              <a:buNone/>
              <a:defRPr b="0" sz="2000" u="none">
                <a:solidFill>
                  <a:srgbClr val="FEFFFF"/>
                </a:solidFill>
                <a:latin typeface="Century Gothic"/>
                <a:ea typeface="Century Gothic"/>
                <a:cs typeface="Century Gothic"/>
                <a:sym typeface="Century Gothic"/>
              </a:defRPr>
            </a:lvl7pPr>
            <a:lvl8pPr indent="0" lvl="7" marL="0" marR="0" rtl="0" algn="r">
              <a:spcBef>
                <a:spcPts val="0"/>
              </a:spcBef>
              <a:buNone/>
              <a:defRPr b="0" sz="2000" u="none">
                <a:solidFill>
                  <a:srgbClr val="FEFFFF"/>
                </a:solidFill>
                <a:latin typeface="Century Gothic"/>
                <a:ea typeface="Century Gothic"/>
                <a:cs typeface="Century Gothic"/>
                <a:sym typeface="Century Gothic"/>
              </a:defRPr>
            </a:lvl8pPr>
            <a:lvl9pPr indent="0" lvl="8" marL="0" marR="0" rtl="0" algn="r">
              <a:spcBef>
                <a:spcPts val="0"/>
              </a:spcBef>
              <a:buNone/>
              <a:defRPr b="0" sz="2000" u="non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docs.google.com/forms/d/e/1FAIpQLSffJ7rMD6pvlv0nQiMgDrEX3nUQyiHZEPxY6r3AKynF5P0loQ/viewform?usp=header" TargetMode="External"/><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orcid.org/0000-0001-7510-573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orcid.org/0009-0001-9086-149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orcid.org/0000-0003-0849-195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orcid.org/0009-0007-3089-665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orcid.org/0009-0007-4886-530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orcid.org/0000-0001-6455-542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1081826" y="1068947"/>
            <a:ext cx="9894300" cy="2188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262626"/>
              </a:buClr>
              <a:buSzPts val="4400"/>
              <a:buFont typeface="Century Gothic"/>
              <a:buNone/>
            </a:pPr>
            <a:r>
              <a:rPr b="1" lang="es-ES" sz="4400"/>
              <a:t>Red Latinoamericana de investigación  social y educativa RELISE</a:t>
            </a:r>
            <a:endParaRPr b="1" sz="4400"/>
          </a:p>
        </p:txBody>
      </p:sp>
      <p:sp>
        <p:nvSpPr>
          <p:cNvPr id="165" name="Google Shape;165;p1"/>
          <p:cNvSpPr txBox="1"/>
          <p:nvPr>
            <p:ph idx="1" type="subTitle"/>
          </p:nvPr>
        </p:nvSpPr>
        <p:spPr>
          <a:xfrm>
            <a:off x="1609860" y="3950529"/>
            <a:ext cx="9569003" cy="1126283"/>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800"/>
              <a:buNone/>
            </a:pPr>
            <a:r>
              <a:rPr b="1" lang="es-ES" sz="2800"/>
              <a:t>México, Costa Rica, Perú, Chile, Uruguay y Colombia</a:t>
            </a:r>
            <a:endParaRPr/>
          </a:p>
          <a:p>
            <a:pPr indent="0" lvl="0" marL="0" rtl="0" algn="ctr">
              <a:spcBef>
                <a:spcPts val="1000"/>
              </a:spcBef>
              <a:spcAft>
                <a:spcPts val="0"/>
              </a:spcAft>
              <a:buSzPts val="2800"/>
              <a:buNone/>
            </a:pPr>
            <a:r>
              <a:rPr b="1" lang="es-ES" sz="2800"/>
              <a:t>Marzo, 2026</a:t>
            </a:r>
            <a:endParaRPr b="1"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
          <p:cNvPicPr preferRelativeResize="0"/>
          <p:nvPr/>
        </p:nvPicPr>
        <p:blipFill rotWithShape="1">
          <a:blip r:embed="rId3">
            <a:alphaModFix/>
          </a:blip>
          <a:srcRect b="6156" l="25616" r="24579" t="9131"/>
          <a:stretch/>
        </p:blipFill>
        <p:spPr>
          <a:xfrm>
            <a:off x="1164625" y="942275"/>
            <a:ext cx="2306924" cy="2140301"/>
          </a:xfrm>
          <a:prstGeom prst="rect">
            <a:avLst/>
          </a:prstGeom>
          <a:noFill/>
          <a:ln>
            <a:noFill/>
          </a:ln>
        </p:spPr>
      </p:pic>
      <p:sp>
        <p:nvSpPr>
          <p:cNvPr id="171" name="Google Shape;171;p2"/>
          <p:cNvSpPr txBox="1"/>
          <p:nvPr>
            <p:ph idx="1" type="body"/>
          </p:nvPr>
        </p:nvSpPr>
        <p:spPr>
          <a:xfrm>
            <a:off x="2280119" y="4662150"/>
            <a:ext cx="7971464" cy="1079684"/>
          </a:xfrm>
          <a:prstGeom prst="rect">
            <a:avLst/>
          </a:prstGeom>
          <a:noFill/>
          <a:ln>
            <a:noFill/>
          </a:ln>
        </p:spPr>
        <p:txBody>
          <a:bodyPr anchorCtr="0" anchor="b" bIns="45700" lIns="91425" spcFirstLastPara="1" rIns="91425" wrap="square" tIns="45700">
            <a:noAutofit/>
          </a:bodyPr>
          <a:lstStyle/>
          <a:p>
            <a:pPr indent="0" lvl="0" marL="0" rtl="0" algn="just">
              <a:spcBef>
                <a:spcPts val="0"/>
              </a:spcBef>
              <a:spcAft>
                <a:spcPts val="0"/>
              </a:spcAft>
              <a:buSzPts val="2400"/>
              <a:buNone/>
            </a:pPr>
            <a:r>
              <a:rPr lang="es-ES">
                <a:solidFill>
                  <a:schemeClr val="dk1"/>
                </a:solidFill>
              </a:rPr>
              <a:t>Nuestro compañero Santiago Hernández ha realizado la propuesta de varios logos, para reflexionar y </a:t>
            </a:r>
            <a:r>
              <a:rPr lang="es-ES">
                <a:solidFill>
                  <a:schemeClr val="dk1"/>
                </a:solidFill>
              </a:rPr>
              <a:t>definir.  </a:t>
            </a:r>
            <a:r>
              <a:rPr lang="es-ES" u="sng">
                <a:solidFill>
                  <a:schemeClr val="hlink"/>
                </a:solidFill>
                <a:hlinkClick r:id="rId4"/>
              </a:rPr>
              <a:t>https://docs.google.com/forms/d/e/1FAIpQLSffJ7rMD6pvlv0nQiMgDrEX3nUQyiHZEPxY6r3AKynF5P0loQ/viewform?usp=header</a:t>
            </a:r>
            <a:endParaRPr>
              <a:solidFill>
                <a:schemeClr val="dk1"/>
              </a:solidFill>
            </a:endParaRPr>
          </a:p>
          <a:p>
            <a:pPr indent="0" lvl="0" marL="0" rtl="0" algn="just">
              <a:spcBef>
                <a:spcPts val="0"/>
              </a:spcBef>
              <a:spcAft>
                <a:spcPts val="0"/>
              </a:spcAft>
              <a:buSzPts val="2400"/>
              <a:buNone/>
            </a:pPr>
            <a:r>
              <a:t/>
            </a:r>
            <a:endParaRPr>
              <a:solidFill>
                <a:schemeClr val="dk1"/>
              </a:solidFill>
            </a:endParaRPr>
          </a:p>
        </p:txBody>
      </p:sp>
      <p:pic>
        <p:nvPicPr>
          <p:cNvPr id="172" name="Google Shape;172;p2"/>
          <p:cNvPicPr preferRelativeResize="0"/>
          <p:nvPr/>
        </p:nvPicPr>
        <p:blipFill rotWithShape="1">
          <a:blip r:embed="rId5">
            <a:alphaModFix/>
          </a:blip>
          <a:srcRect b="16655" l="18900" r="14120" t="10396"/>
          <a:stretch/>
        </p:blipFill>
        <p:spPr>
          <a:xfrm>
            <a:off x="3976828" y="1147357"/>
            <a:ext cx="1588549" cy="1730125"/>
          </a:xfrm>
          <a:prstGeom prst="rect">
            <a:avLst/>
          </a:prstGeom>
          <a:noFill/>
          <a:ln>
            <a:noFill/>
          </a:ln>
        </p:spPr>
      </p:pic>
      <p:pic>
        <p:nvPicPr>
          <p:cNvPr id="173" name="Google Shape;173;p2"/>
          <p:cNvPicPr preferRelativeResize="0"/>
          <p:nvPr/>
        </p:nvPicPr>
        <p:blipFill>
          <a:blip r:embed="rId6">
            <a:alphaModFix/>
          </a:blip>
          <a:stretch>
            <a:fillRect/>
          </a:stretch>
        </p:blipFill>
        <p:spPr>
          <a:xfrm>
            <a:off x="6070649" y="1147355"/>
            <a:ext cx="2784326" cy="1517250"/>
          </a:xfrm>
          <a:prstGeom prst="rect">
            <a:avLst/>
          </a:prstGeom>
          <a:noFill/>
          <a:ln>
            <a:noFill/>
          </a:ln>
        </p:spPr>
      </p:pic>
      <p:pic>
        <p:nvPicPr>
          <p:cNvPr id="174" name="Google Shape;174;p2"/>
          <p:cNvPicPr preferRelativeResize="0"/>
          <p:nvPr/>
        </p:nvPicPr>
        <p:blipFill>
          <a:blip r:embed="rId7">
            <a:alphaModFix/>
          </a:blip>
          <a:stretch>
            <a:fillRect/>
          </a:stretch>
        </p:blipFill>
        <p:spPr>
          <a:xfrm>
            <a:off x="8854974" y="1147350"/>
            <a:ext cx="2459322" cy="1340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
          <p:cNvSpPr txBox="1"/>
          <p:nvPr>
            <p:ph type="title"/>
          </p:nvPr>
        </p:nvSpPr>
        <p:spPr>
          <a:xfrm>
            <a:off x="2508840" y="1571224"/>
            <a:ext cx="8605627" cy="528677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rgbClr val="262626"/>
              </a:buClr>
              <a:buSzPts val="4800"/>
              <a:buFont typeface="Century Gothic"/>
              <a:buNone/>
            </a:pPr>
            <a:r>
              <a:rPr lang="es-ES" sz="1800"/>
              <a:t>La Red Latinoamericana de Investigación Social y Educativa [RELISE] está constituida por investigadores (nodos) de distintos países de la región y diversidad de disciplinas, donde han  acordado bajo libres voluntades generar desde el trabajo colaborativo y en red, aportaciones para la comprensión y transformación efectiva de las  realidades  sociales y </a:t>
            </a:r>
            <a:r>
              <a:rPr lang="es-ES" sz="1800"/>
              <a:t>educativas</a:t>
            </a:r>
            <a:r>
              <a:rPr lang="es-ES" sz="1800"/>
              <a:t> de los contextos de México, Costa Rica, Colombia, Perú, Chile y Uruguay.</a:t>
            </a:r>
            <a:br>
              <a:rPr lang="es-ES" sz="1800"/>
            </a:br>
            <a:br>
              <a:rPr lang="es-ES" sz="1800"/>
            </a:br>
            <a:r>
              <a:rPr lang="es-ES" sz="1800"/>
              <a:t>Nicho:</a:t>
            </a:r>
            <a:r>
              <a:rPr lang="es-ES" sz="1800"/>
              <a:t> ciencias sociales y </a:t>
            </a:r>
            <a:r>
              <a:rPr lang="es-ES" sz="1800"/>
              <a:t>educación, </a:t>
            </a:r>
            <a:r>
              <a:rPr lang="es-ES" sz="1800"/>
              <a:t>cooperación científica, técnica y </a:t>
            </a:r>
            <a:r>
              <a:rPr lang="es-ES" sz="1800"/>
              <a:t>pedagógica.</a:t>
            </a:r>
            <a:br>
              <a:rPr lang="es-ES" sz="1800"/>
            </a:br>
            <a:br>
              <a:rPr lang="es-ES" sz="1800"/>
            </a:br>
            <a:r>
              <a:rPr lang="es-ES" sz="1800"/>
              <a:t>Reconocemos que los desafíos sociales y educativos de América Latina requieren una mirada transnacional, interdisciplinaria y colaborativa que trascienda las fronteras geográficas y los silos institucionales.</a:t>
            </a:r>
            <a:br>
              <a:rPr lang="es-ES" sz="1800"/>
            </a:br>
            <a:br>
              <a:rPr lang="es-ES" sz="1800"/>
            </a:br>
            <a:r>
              <a:rPr lang="es-ES" sz="1800"/>
              <a:t>Esta red nace con la misión de articular esfuerzos de investigación en ciencias sociales y educación para abordar de manera conjunta los desafíos estructurales de nuestra </a:t>
            </a:r>
            <a:r>
              <a:rPr lang="es-ES" sz="1800"/>
              <a:t>región.</a:t>
            </a:r>
            <a:endParaRPr sz="2200"/>
          </a:p>
        </p:txBody>
      </p:sp>
      <p:sp>
        <p:nvSpPr>
          <p:cNvPr id="180" name="Google Shape;180;p3"/>
          <p:cNvSpPr txBox="1"/>
          <p:nvPr/>
        </p:nvSpPr>
        <p:spPr>
          <a:xfrm>
            <a:off x="2508841" y="873621"/>
            <a:ext cx="8474298" cy="478662"/>
          </a:xfrm>
          <a:prstGeom prst="rect">
            <a:avLst/>
          </a:prstGeom>
          <a:noFill/>
          <a:ln>
            <a:noFill/>
          </a:ln>
        </p:spPr>
        <p:txBody>
          <a:bodyPr anchorCtr="0" anchor="ctr" bIns="45700" lIns="91425" spcFirstLastPara="1" rIns="91425" wrap="square" tIns="45700">
            <a:normAutofit fontScale="25000" lnSpcReduction="20000"/>
          </a:bodyPr>
          <a:lstStyle/>
          <a:p>
            <a:pPr indent="0" lvl="0" marL="0" marR="0" rtl="0" algn="l">
              <a:spcBef>
                <a:spcPts val="0"/>
              </a:spcBef>
              <a:spcAft>
                <a:spcPts val="0"/>
              </a:spcAft>
              <a:buClr>
                <a:srgbClr val="262626"/>
              </a:buClr>
              <a:buSzPct val="100000"/>
              <a:buFont typeface="Century Gothic"/>
              <a:buNone/>
            </a:pPr>
            <a:br>
              <a:rPr b="1" lang="es-ES" sz="3600" cap="none">
                <a:solidFill>
                  <a:srgbClr val="262626"/>
                </a:solidFill>
                <a:latin typeface="Century Gothic"/>
                <a:ea typeface="Century Gothic"/>
                <a:cs typeface="Century Gothic"/>
                <a:sym typeface="Century Gothic"/>
              </a:rPr>
            </a:br>
            <a:r>
              <a:rPr b="1" lang="es-ES" sz="10700" cap="none">
                <a:solidFill>
                  <a:srgbClr val="262626"/>
                </a:solidFill>
                <a:latin typeface="Century Gothic"/>
                <a:ea typeface="Century Gothic"/>
                <a:cs typeface="Century Gothic"/>
                <a:sym typeface="Century Gothic"/>
              </a:rPr>
              <a:t>Presentación</a:t>
            </a:r>
            <a:endParaRPr b="1" sz="10700" cap="none">
              <a:solidFill>
                <a:srgbClr val="262626"/>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ph type="title"/>
          </p:nvPr>
        </p:nvSpPr>
        <p:spPr>
          <a:xfrm>
            <a:off x="2508841" y="873620"/>
            <a:ext cx="8474298" cy="69760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s-ES" sz="3600"/>
              <a:t>Miembros de RELISE</a:t>
            </a:r>
            <a:br>
              <a:rPr b="1" lang="es-ES" sz="3600"/>
            </a:br>
            <a:endParaRPr sz="2000"/>
          </a:p>
        </p:txBody>
      </p:sp>
      <p:sp>
        <p:nvSpPr>
          <p:cNvPr id="186" name="Google Shape;186;p4"/>
          <p:cNvSpPr txBox="1"/>
          <p:nvPr>
            <p:ph idx="1" type="body"/>
          </p:nvPr>
        </p:nvSpPr>
        <p:spPr>
          <a:xfrm>
            <a:off x="2574925" y="1905974"/>
            <a:ext cx="8474400" cy="2907300"/>
          </a:xfrm>
          <a:prstGeom prst="rect">
            <a:avLst/>
          </a:prstGeom>
          <a:noFill/>
          <a:ln>
            <a:noFill/>
          </a:ln>
        </p:spPr>
        <p:txBody>
          <a:bodyPr anchorCtr="0" anchor="b" bIns="45700" lIns="91425" spcFirstLastPara="1" rIns="91425" wrap="square" tIns="45700">
            <a:noAutofit/>
          </a:bodyPr>
          <a:lstStyle/>
          <a:p>
            <a:pPr indent="0" lvl="0" marL="0" rtl="0" algn="just">
              <a:spcBef>
                <a:spcPts val="0"/>
              </a:spcBef>
              <a:spcAft>
                <a:spcPts val="0"/>
              </a:spcAft>
              <a:buSzPts val="2400"/>
              <a:buNone/>
            </a:pPr>
            <a:r>
              <a:rPr lang="es-ES"/>
              <a:t>Omar Alexis Elías </a:t>
            </a:r>
            <a:r>
              <a:rPr lang="es-ES"/>
              <a:t>Segura</a:t>
            </a:r>
            <a:r>
              <a:rPr lang="es-ES"/>
              <a:t> (</a:t>
            </a:r>
            <a:r>
              <a:rPr b="1" lang="es-ES"/>
              <a:t>México</a:t>
            </a:r>
            <a:r>
              <a:rPr lang="es-ES"/>
              <a:t>); Magaly Rodriguez Calvo e Idania Valverde Rojas (</a:t>
            </a:r>
            <a:r>
              <a:rPr b="1" lang="es-ES"/>
              <a:t>Costa Rica</a:t>
            </a:r>
            <a:r>
              <a:rPr lang="es-ES"/>
              <a:t>); Angela Rodríguez Rodríguez; Javier Ramírez Narváez; Reisner de Jesús Ravelo Méndez (</a:t>
            </a:r>
            <a:r>
              <a:rPr b="1" lang="es-ES"/>
              <a:t>Colombia</a:t>
            </a:r>
            <a:r>
              <a:rPr lang="es-ES"/>
              <a:t>); Charito Távara Sabalu (</a:t>
            </a:r>
            <a:r>
              <a:rPr b="1" lang="es-ES"/>
              <a:t>Perú</a:t>
            </a:r>
            <a:r>
              <a:rPr lang="es-ES"/>
              <a:t>); Patricio Carreño (</a:t>
            </a:r>
            <a:r>
              <a:rPr b="1" lang="es-ES"/>
              <a:t>Chile</a:t>
            </a:r>
            <a:r>
              <a:rPr lang="es-ES"/>
              <a:t>); Santiago Hernández; María Eugenia Rodino &amp; Diego Daluz (</a:t>
            </a:r>
            <a:r>
              <a:rPr b="1" lang="es-ES"/>
              <a:t>Uruguay</a:t>
            </a:r>
            <a:r>
              <a:rPr lang="es-ES"/>
              <a:t>)</a:t>
            </a:r>
            <a:r>
              <a:rPr lang="es-E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5"/>
          <p:cNvSpPr txBox="1"/>
          <p:nvPr>
            <p:ph type="title"/>
          </p:nvPr>
        </p:nvSpPr>
        <p:spPr>
          <a:xfrm>
            <a:off x="2508841" y="873620"/>
            <a:ext cx="8474298" cy="69760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s-ES" sz="3600"/>
              <a:t>Principios rectores de RELISE</a:t>
            </a:r>
            <a:br>
              <a:rPr b="1" lang="es-ES" sz="3600"/>
            </a:br>
            <a:endParaRPr sz="2000"/>
          </a:p>
        </p:txBody>
      </p:sp>
      <p:sp>
        <p:nvSpPr>
          <p:cNvPr id="192" name="Google Shape;192;p5"/>
          <p:cNvSpPr txBox="1"/>
          <p:nvPr>
            <p:ph idx="1" type="body"/>
          </p:nvPr>
        </p:nvSpPr>
        <p:spPr>
          <a:xfrm>
            <a:off x="2508841" y="1916809"/>
            <a:ext cx="8474298" cy="2429813"/>
          </a:xfrm>
          <a:prstGeom prst="rect">
            <a:avLst/>
          </a:prstGeom>
          <a:noFill/>
          <a:ln>
            <a:noFill/>
          </a:ln>
        </p:spPr>
        <p:txBody>
          <a:bodyPr anchorCtr="0" anchor="b" bIns="45700" lIns="91425" spcFirstLastPara="1" rIns="91425" wrap="square" tIns="45700">
            <a:noAutofit/>
          </a:bodyPr>
          <a:lstStyle/>
          <a:p>
            <a:pPr indent="-381000" lvl="0" marL="457200" rtl="0" algn="just">
              <a:spcBef>
                <a:spcPts val="0"/>
              </a:spcBef>
              <a:spcAft>
                <a:spcPts val="0"/>
              </a:spcAft>
              <a:buSzPts val="2400"/>
              <a:buChar char="●"/>
            </a:pPr>
            <a:r>
              <a:rPr lang="es-ES"/>
              <a:t>Horizontalidad</a:t>
            </a:r>
            <a:endParaRPr/>
          </a:p>
          <a:p>
            <a:pPr indent="-381000" lvl="0" marL="457200" rtl="0" algn="just">
              <a:spcBef>
                <a:spcPts val="0"/>
              </a:spcBef>
              <a:spcAft>
                <a:spcPts val="0"/>
              </a:spcAft>
              <a:buSzPts val="2400"/>
              <a:buChar char="●"/>
            </a:pPr>
            <a:r>
              <a:rPr lang="es-ES"/>
              <a:t>Ciencia abierta</a:t>
            </a:r>
            <a:endParaRPr/>
          </a:p>
          <a:p>
            <a:pPr indent="-381000" lvl="0" marL="457200" rtl="0" algn="just">
              <a:spcBef>
                <a:spcPts val="0"/>
              </a:spcBef>
              <a:spcAft>
                <a:spcPts val="0"/>
              </a:spcAft>
              <a:buSzPts val="2400"/>
              <a:buChar char="●"/>
            </a:pPr>
            <a:r>
              <a:rPr lang="es-ES"/>
              <a:t>Reciprocidad </a:t>
            </a:r>
            <a:endParaRPr/>
          </a:p>
          <a:p>
            <a:pPr indent="-381000" lvl="0" marL="457200" rtl="0" algn="just">
              <a:spcBef>
                <a:spcPts val="0"/>
              </a:spcBef>
              <a:spcAft>
                <a:spcPts val="0"/>
              </a:spcAft>
              <a:buSzPts val="2400"/>
              <a:buChar char="●"/>
            </a:pPr>
            <a:r>
              <a:rPr lang="es-ES"/>
              <a:t>Flexibilidad </a:t>
            </a:r>
            <a:endParaRPr/>
          </a:p>
          <a:p>
            <a:pPr indent="-381000" lvl="0" marL="457200" rtl="0" algn="just">
              <a:spcBef>
                <a:spcPts val="0"/>
              </a:spcBef>
              <a:spcAft>
                <a:spcPts val="0"/>
              </a:spcAft>
              <a:buSzPts val="2400"/>
              <a:buChar char="●"/>
            </a:pPr>
            <a:r>
              <a:rPr lang="es-ES"/>
              <a:t>Formación continua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6"/>
          <p:cNvSpPr txBox="1"/>
          <p:nvPr>
            <p:ph type="title"/>
          </p:nvPr>
        </p:nvSpPr>
        <p:spPr>
          <a:xfrm>
            <a:off x="2524817" y="873350"/>
            <a:ext cx="7460602"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Century Gothic"/>
              <a:buNone/>
            </a:pPr>
            <a:r>
              <a:rPr b="1" lang="es-ES" sz="3600"/>
              <a:t>Estrategia de producción de RELISE, año 2026</a:t>
            </a:r>
            <a:endParaRPr b="1" sz="3600"/>
          </a:p>
        </p:txBody>
      </p:sp>
      <p:sp>
        <p:nvSpPr>
          <p:cNvPr id="198" name="Google Shape;198;p6"/>
          <p:cNvSpPr txBox="1"/>
          <p:nvPr>
            <p:ph idx="1" type="body"/>
          </p:nvPr>
        </p:nvSpPr>
        <p:spPr>
          <a:xfrm>
            <a:off x="2524817" y="1983417"/>
            <a:ext cx="8915400" cy="2524189"/>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SzPts val="2400"/>
              <a:buFont typeface="Arial"/>
              <a:buChar char="•"/>
            </a:pPr>
            <a:r>
              <a:rPr lang="es-ES"/>
              <a:t>Disertación </a:t>
            </a:r>
            <a:r>
              <a:rPr lang="es-ES"/>
              <a:t>mensual,</a:t>
            </a:r>
            <a:r>
              <a:rPr lang="es-ES"/>
              <a:t> tema de interés a </a:t>
            </a:r>
            <a:r>
              <a:rPr lang="es-ES"/>
              <a:t>RELISE.</a:t>
            </a:r>
            <a:endParaRPr/>
          </a:p>
          <a:p>
            <a:pPr indent="-342900" lvl="0" marL="342900" rtl="0" algn="l">
              <a:spcBef>
                <a:spcPts val="1000"/>
              </a:spcBef>
              <a:spcAft>
                <a:spcPts val="0"/>
              </a:spcAft>
              <a:buSzPts val="2400"/>
              <a:buFont typeface="Arial"/>
              <a:buChar char="•"/>
            </a:pPr>
            <a:r>
              <a:rPr lang="es-ES"/>
              <a:t>Publicación libro colectivo que recoge las memorias de las disertaciones. </a:t>
            </a:r>
            <a:endParaRPr/>
          </a:p>
          <a:p>
            <a:pPr indent="-342900" lvl="0" marL="342900" rtl="0" algn="l">
              <a:spcBef>
                <a:spcPts val="1000"/>
              </a:spcBef>
              <a:spcAft>
                <a:spcPts val="0"/>
              </a:spcAft>
              <a:buSzPts val="2400"/>
              <a:buFont typeface="Arial"/>
              <a:buChar char="•"/>
            </a:pPr>
            <a:r>
              <a:rPr lang="es-ES"/>
              <a:t>Webinar </a:t>
            </a:r>
            <a:r>
              <a:rPr lang="es-ES"/>
              <a:t>latinoamericano</a:t>
            </a:r>
            <a:r>
              <a:rPr lang="es-ES"/>
              <a:t>, donde se hace presentación del libro y de la experiencia de </a:t>
            </a:r>
            <a:r>
              <a:rPr lang="es-ES"/>
              <a:t>RELISE.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txBox="1"/>
          <p:nvPr>
            <p:ph type="title"/>
          </p:nvPr>
        </p:nvSpPr>
        <p:spPr>
          <a:xfrm>
            <a:off x="2524817" y="873350"/>
            <a:ext cx="7460602"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Century Gothic"/>
              <a:buNone/>
            </a:pPr>
            <a:r>
              <a:rPr b="1" lang="es-ES" sz="3600"/>
              <a:t>Visibilidad y comunicación digital</a:t>
            </a:r>
            <a:endParaRPr b="1" sz="3600"/>
          </a:p>
        </p:txBody>
      </p:sp>
      <p:sp>
        <p:nvSpPr>
          <p:cNvPr id="204" name="Google Shape;204;p7"/>
          <p:cNvSpPr txBox="1"/>
          <p:nvPr>
            <p:ph idx="1" type="body"/>
          </p:nvPr>
        </p:nvSpPr>
        <p:spPr>
          <a:xfrm>
            <a:off x="2434665" y="2601603"/>
            <a:ext cx="8915400" cy="2524189"/>
          </a:xfrm>
          <a:prstGeom prst="rect">
            <a:avLst/>
          </a:prstGeom>
          <a:noFill/>
          <a:ln>
            <a:noFill/>
          </a:ln>
        </p:spPr>
        <p:txBody>
          <a:bodyPr anchorCtr="0" anchor="b" bIns="45700" lIns="91425" spcFirstLastPara="1" rIns="91425" wrap="square" tIns="45700">
            <a:noAutofit/>
          </a:bodyPr>
          <a:lstStyle/>
          <a:p>
            <a:pPr indent="-342900" lvl="0" marL="342900" rtl="0" algn="l">
              <a:spcBef>
                <a:spcPts val="0"/>
              </a:spcBef>
              <a:spcAft>
                <a:spcPts val="0"/>
              </a:spcAft>
              <a:buSzPts val="2400"/>
              <a:buFont typeface="Noto Sans Symbols"/>
              <a:buChar char="▪"/>
            </a:pPr>
            <a:r>
              <a:rPr lang="es-ES"/>
              <a:t>Instagram</a:t>
            </a:r>
            <a:endParaRPr/>
          </a:p>
          <a:p>
            <a:pPr indent="-342900" lvl="0" marL="342900" rtl="0" algn="l">
              <a:spcBef>
                <a:spcPts val="1000"/>
              </a:spcBef>
              <a:spcAft>
                <a:spcPts val="0"/>
              </a:spcAft>
              <a:buSzPts val="2400"/>
              <a:buFont typeface="Noto Sans Symbols"/>
              <a:buChar char="▪"/>
            </a:pPr>
            <a:r>
              <a:rPr lang="es-ES"/>
              <a:t>Twitter</a:t>
            </a:r>
            <a:endParaRPr/>
          </a:p>
          <a:p>
            <a:pPr indent="-342900" lvl="0" marL="342900" rtl="0" algn="l">
              <a:spcBef>
                <a:spcPts val="1000"/>
              </a:spcBef>
              <a:spcAft>
                <a:spcPts val="0"/>
              </a:spcAft>
              <a:buSzPts val="2400"/>
              <a:buFont typeface="Noto Sans Symbols"/>
              <a:buChar char="▪"/>
            </a:pPr>
            <a:r>
              <a:rPr lang="es-ES"/>
              <a:t>Correo</a:t>
            </a:r>
            <a:endParaRPr/>
          </a:p>
          <a:p>
            <a:pPr indent="-342900" lvl="0" marL="342900" rtl="0" algn="l">
              <a:spcBef>
                <a:spcPts val="1000"/>
              </a:spcBef>
              <a:spcAft>
                <a:spcPts val="0"/>
              </a:spcAft>
              <a:buSzPts val="2400"/>
              <a:buFont typeface="Noto Sans Symbols"/>
              <a:buChar char="▪"/>
            </a:pPr>
            <a:r>
              <a:rPr lang="es-ES"/>
              <a:t>LinkedIn</a:t>
            </a:r>
            <a:endParaRPr/>
          </a:p>
          <a:p>
            <a:pPr indent="-342900" lvl="0" marL="342900" rtl="0" algn="l">
              <a:spcBef>
                <a:spcPts val="1000"/>
              </a:spcBef>
              <a:spcAft>
                <a:spcPts val="0"/>
              </a:spcAft>
              <a:buSzPts val="2400"/>
              <a:buFont typeface="Noto Sans Symbols"/>
              <a:buChar char="▪"/>
            </a:pPr>
            <a:r>
              <a:rPr lang="es-ES"/>
              <a:t>ResearchGate</a:t>
            </a:r>
            <a:endParaRPr/>
          </a:p>
          <a:p>
            <a:pPr indent="0" lvl="0" marL="0" rtl="0" algn="l">
              <a:spcBef>
                <a:spcPts val="1000"/>
              </a:spcBef>
              <a:spcAft>
                <a:spcPts val="0"/>
              </a:spcAft>
              <a:buSzPts val="2400"/>
              <a:buFont typeface="Century Gothic"/>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ph type="title"/>
          </p:nvPr>
        </p:nvSpPr>
        <p:spPr>
          <a:xfrm>
            <a:off x="2472489" y="810634"/>
            <a:ext cx="8849400" cy="30375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262626"/>
              </a:buClr>
              <a:buSzPts val="3240"/>
              <a:buFont typeface="Century Gothic"/>
              <a:buNone/>
            </a:pPr>
            <a:r>
              <a:rPr b="1" lang="es-ES" sz="2740"/>
              <a:t>Omar Alexis Elías Segura</a:t>
            </a:r>
            <a:br>
              <a:rPr b="1" lang="es-ES" sz="2740"/>
            </a:br>
            <a:r>
              <a:rPr b="1" lang="es-ES" sz="1800"/>
              <a:t>México</a:t>
            </a:r>
            <a:r>
              <a:rPr lang="es-ES" sz="1800"/>
              <a:t>. </a:t>
            </a:r>
            <a:r>
              <a:rPr lang="es-ES" sz="1800"/>
              <a:t>Profesor, investigador y administrador con estudios de Licenciatura en Pedagogía por parte de la Universidad Veracruzana, Maestría en Administración de Instituciones Educativas por el Instituto de Estudios Universitarios, Doctorado en Educación por la UO Global Universidad Online. Ponente e investigador nacional e internacional, abordando temáticas orientados a la educación, el humanismo y de bienestar emocional, propiciando encuentros académicos con sentido de conciencia y de responsabilidad social. Afiliación: </a:t>
            </a:r>
            <a:r>
              <a:rPr lang="es-ES" sz="1800"/>
              <a:t>UO Global Universidad Online. ORCID: </a:t>
            </a:r>
            <a:r>
              <a:rPr lang="es-ES" sz="1800" u="sng">
                <a:solidFill>
                  <a:schemeClr val="hlink"/>
                </a:solidFill>
                <a:hlinkClick r:id="rId3"/>
              </a:rPr>
              <a:t>https://orcid.org/0000-0001-7510-5737</a:t>
            </a:r>
            <a:endParaRPr sz="1800"/>
          </a:p>
          <a:p>
            <a:pPr indent="0" lvl="0" marL="0" rtl="0" algn="just">
              <a:spcBef>
                <a:spcPts val="0"/>
              </a:spcBef>
              <a:spcAft>
                <a:spcPts val="0"/>
              </a:spcAft>
              <a:buClr>
                <a:srgbClr val="262626"/>
              </a:buClr>
              <a:buSzPts val="3240"/>
              <a:buFont typeface="Century Gothic"/>
              <a:buNone/>
            </a:pPr>
            <a:r>
              <a:t/>
            </a:r>
            <a:endParaRPr sz="1500"/>
          </a:p>
        </p:txBody>
      </p:sp>
      <p:sp>
        <p:nvSpPr>
          <p:cNvPr id="210" name="Google Shape;210;p8"/>
          <p:cNvSpPr txBox="1"/>
          <p:nvPr>
            <p:ph idx="1" type="body"/>
          </p:nvPr>
        </p:nvSpPr>
        <p:spPr>
          <a:xfrm>
            <a:off x="2591488" y="4061363"/>
            <a:ext cx="8915400" cy="2429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 </a:t>
            </a:r>
            <a:endParaRPr/>
          </a:p>
          <a:p>
            <a:pPr indent="0" lvl="0" marL="0" rtl="0" algn="just">
              <a:spcBef>
                <a:spcPts val="1000"/>
              </a:spcBef>
              <a:spcAft>
                <a:spcPts val="0"/>
              </a:spcAft>
              <a:buSzPts val="2400"/>
              <a:buNone/>
            </a:pPr>
            <a:r>
              <a:rPr lang="es-ES"/>
              <a:t>Transformación e intervención social desde el vínculo comunitario: una perspectiva intercultural en la formación de alumnos de </a:t>
            </a:r>
            <a:r>
              <a:rPr lang="es-ES"/>
              <a:t>educación media superior</a:t>
            </a:r>
            <a:r>
              <a:rPr lang="es-ES"/>
              <a:t> en Latinoamérica </a:t>
            </a:r>
            <a:endParaRPr/>
          </a:p>
          <a:p>
            <a:pPr indent="0" lvl="0" marL="0" rtl="0" algn="l">
              <a:spcBef>
                <a:spcPts val="1000"/>
              </a:spcBef>
              <a:spcAft>
                <a:spcPts val="0"/>
              </a:spcAft>
              <a:buSzPts val="2400"/>
              <a:buFont typeface="Century Gothic"/>
              <a:buNone/>
            </a:pPr>
            <a:r>
              <a:rPr lang="es-ES"/>
              <a:t>Fecha: </a:t>
            </a:r>
            <a:r>
              <a:rPr lang="es-ES"/>
              <a:t>24 de abril</a:t>
            </a:r>
            <a:r>
              <a:rPr lang="es-ES"/>
              <a:t> </a:t>
            </a:r>
            <a:r>
              <a:rPr lang="es-ES"/>
              <a:t>de 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2473300" y="94450"/>
            <a:ext cx="8394000" cy="3800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s-ES" sz="3600"/>
              <a:t>   </a:t>
            </a:r>
            <a:r>
              <a:rPr b="1" lang="es-ES" sz="3600"/>
              <a:t>Santiago </a:t>
            </a:r>
            <a:r>
              <a:rPr b="1" lang="es-ES" sz="3600"/>
              <a:t>Hernández,</a:t>
            </a:r>
            <a:r>
              <a:rPr b="1" lang="es-ES" sz="3600"/>
              <a:t> </a:t>
            </a:r>
            <a:br>
              <a:rPr b="1" lang="es-ES" sz="3600"/>
            </a:br>
            <a:r>
              <a:rPr b="1" lang="es-ES" sz="2000"/>
              <a:t>Uruguay</a:t>
            </a:r>
            <a:r>
              <a:rPr lang="es-ES" sz="2000"/>
              <a:t>.</a:t>
            </a:r>
            <a:r>
              <a:rPr lang="es-ES" sz="2000"/>
              <a:t> Profesor de Informática, Especialista en Tecnología Educativa con diploma en IAG y educación. Cursando Maestría en Educación en Universidad ORT Uruguay. Contenidista de EDyTIC para DGES, Profesor de Base de Datos en DGETP y </a:t>
            </a:r>
            <a:r>
              <a:rPr lang="es-ES" sz="2000"/>
              <a:t>Profesor</a:t>
            </a:r>
            <a:r>
              <a:rPr lang="es-ES" sz="2000"/>
              <a:t> de Programación y Pensamiento Computacional en CFE. En investigación mi línea de trabajo está vinculada a la inserción de la IAG en la educación analizando dilemas éticos, protección de datos y temas afines. Orcid:</a:t>
            </a:r>
            <a:r>
              <a:rPr lang="es-ES" sz="2000" u="sng">
                <a:solidFill>
                  <a:schemeClr val="hlink"/>
                </a:solidFill>
                <a:hlinkClick r:id="rId3"/>
              </a:rPr>
              <a:t> https://orcid.org/0009-0001-9086-1490</a:t>
            </a:r>
            <a:endParaRPr sz="2000"/>
          </a:p>
        </p:txBody>
      </p:sp>
      <p:sp>
        <p:nvSpPr>
          <p:cNvPr id="216" name="Google Shape;216;p9"/>
          <p:cNvSpPr txBox="1"/>
          <p:nvPr>
            <p:ph idx="1" type="body"/>
          </p:nvPr>
        </p:nvSpPr>
        <p:spPr>
          <a:xfrm>
            <a:off x="2589213" y="3777804"/>
            <a:ext cx="8915400" cy="1888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 </a:t>
            </a:r>
            <a:endParaRPr/>
          </a:p>
          <a:p>
            <a:pPr indent="0" lvl="0" marL="0" rtl="0" algn="just">
              <a:spcBef>
                <a:spcPts val="1000"/>
              </a:spcBef>
              <a:spcAft>
                <a:spcPts val="0"/>
              </a:spcAft>
              <a:buSzPts val="2400"/>
              <a:buNone/>
            </a:pPr>
            <a:r>
              <a:rPr lang="es-ES"/>
              <a:t>Inteligencia artificial (IA) en los sistemas educativos de América Latina.</a:t>
            </a:r>
            <a:endParaRPr/>
          </a:p>
          <a:p>
            <a:pPr indent="0" lvl="0" marL="0" rtl="0" algn="just">
              <a:spcBef>
                <a:spcPts val="1000"/>
              </a:spcBef>
              <a:spcAft>
                <a:spcPts val="0"/>
              </a:spcAft>
              <a:buSzPts val="2400"/>
              <a:buNone/>
            </a:pPr>
            <a:r>
              <a:rPr lang="es-ES"/>
              <a:t>Fecha: </a:t>
            </a:r>
            <a:r>
              <a:rPr lang="es-ES"/>
              <a:t>29 de mayo</a:t>
            </a:r>
            <a:r>
              <a:rPr lang="es-ES"/>
              <a:t> </a:t>
            </a:r>
            <a:r>
              <a:rPr lang="es-ES"/>
              <a:t>de</a:t>
            </a:r>
            <a:r>
              <a:rPr lang="es-ES"/>
              <a:t> 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txBox="1"/>
          <p:nvPr>
            <p:ph type="title"/>
          </p:nvPr>
        </p:nvSpPr>
        <p:spPr>
          <a:xfrm>
            <a:off x="2453775" y="879950"/>
            <a:ext cx="8745600" cy="24921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rgbClr val="262626"/>
              </a:buClr>
              <a:buSzPct val="100000"/>
              <a:buFont typeface="Century Gothic"/>
              <a:buNone/>
            </a:pPr>
            <a:r>
              <a:rPr b="1" lang="es-ES" sz="3200"/>
              <a:t>Javier Ramírez Narváez</a:t>
            </a:r>
            <a:r>
              <a:rPr b="1" lang="es-ES" sz="3200"/>
              <a:t>, </a:t>
            </a:r>
            <a:br>
              <a:rPr b="1" lang="es-ES" sz="3200"/>
            </a:br>
            <a:r>
              <a:rPr b="1" lang="es-ES" sz="2000"/>
              <a:t>Colombia</a:t>
            </a:r>
            <a:r>
              <a:rPr b="1" lang="es-ES" sz="3200"/>
              <a:t>.</a:t>
            </a:r>
            <a:r>
              <a:rPr b="1" lang="es-ES" sz="3600"/>
              <a:t> </a:t>
            </a:r>
            <a:r>
              <a:rPr lang="es-ES" sz="2000"/>
              <a:t>Perfil profesional</a:t>
            </a:r>
            <a:r>
              <a:rPr lang="es-ES" sz="2000"/>
              <a:t>: Estudiante</a:t>
            </a:r>
            <a:r>
              <a:rPr lang="es-ES" sz="2000"/>
              <a:t> del Doctorado en Ciencias de la Educación en la Universidad Cuauhtémoc de Aguascalientes, México. Magíster en Educación de la Corporación Universitaria Iberoamericana y Profesional en Relaciones Internacionales y Estudios Políticos de la Universidad Militar Nueva Granada, Colombia</a:t>
            </a:r>
            <a:r>
              <a:rPr lang="es-ES" sz="1100">
                <a:solidFill>
                  <a:schemeClr val="dk1"/>
                </a:solidFill>
                <a:latin typeface="Times New Roman"/>
                <a:ea typeface="Times New Roman"/>
                <a:cs typeface="Times New Roman"/>
                <a:sym typeface="Times New Roman"/>
              </a:rPr>
              <a:t>.</a:t>
            </a:r>
            <a:r>
              <a:rPr lang="es-ES" sz="2000"/>
              <a:t> ORCID: </a:t>
            </a:r>
            <a:r>
              <a:rPr lang="es-ES" sz="2000" u="sng">
                <a:solidFill>
                  <a:schemeClr val="hlink"/>
                </a:solidFill>
                <a:hlinkClick r:id="rId3"/>
              </a:rPr>
              <a:t>https://orcid.org/0000-0003-0849-1951</a:t>
            </a:r>
            <a:r>
              <a:rPr lang="es-ES" sz="2000"/>
              <a:t>)</a:t>
            </a:r>
            <a:endParaRPr/>
          </a:p>
        </p:txBody>
      </p:sp>
      <p:sp>
        <p:nvSpPr>
          <p:cNvPr id="222" name="Google Shape;222;p18"/>
          <p:cNvSpPr txBox="1"/>
          <p:nvPr>
            <p:ph idx="1" type="body"/>
          </p:nvPr>
        </p:nvSpPr>
        <p:spPr>
          <a:xfrm>
            <a:off x="2589213" y="3919473"/>
            <a:ext cx="8915400" cy="188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 </a:t>
            </a:r>
            <a:endParaRPr/>
          </a:p>
          <a:p>
            <a:pPr indent="0" lvl="0" marL="0" rtl="0" algn="just">
              <a:spcBef>
                <a:spcPts val="1000"/>
              </a:spcBef>
              <a:spcAft>
                <a:spcPts val="0"/>
              </a:spcAft>
              <a:buSzPts val="2400"/>
              <a:buNone/>
            </a:pPr>
            <a:r>
              <a:rPr lang="es-ES"/>
              <a:t>Problemáticas políticas y socioeconómicas que afectan la educación en Latinoamérica.</a:t>
            </a:r>
            <a:endParaRPr/>
          </a:p>
          <a:p>
            <a:pPr indent="0" lvl="0" marL="0" rtl="0" algn="just">
              <a:spcBef>
                <a:spcPts val="1000"/>
              </a:spcBef>
              <a:spcAft>
                <a:spcPts val="0"/>
              </a:spcAft>
              <a:buSzPts val="2400"/>
              <a:buNone/>
            </a:pPr>
            <a:r>
              <a:rPr lang="es-ES"/>
              <a:t>Fecha: 12 de junio de 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2"/>
          <p:cNvSpPr txBox="1"/>
          <p:nvPr>
            <p:ph type="title"/>
          </p:nvPr>
        </p:nvSpPr>
        <p:spPr>
          <a:xfrm>
            <a:off x="1243587" y="308501"/>
            <a:ext cx="8394000" cy="2198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s-ES" sz="3600"/>
              <a:t>María</a:t>
            </a:r>
            <a:r>
              <a:rPr b="1" lang="es-ES" sz="3600"/>
              <a:t> Eugenia </a:t>
            </a:r>
            <a:r>
              <a:rPr b="1" lang="es-ES" sz="3600"/>
              <a:t>Rodino,</a:t>
            </a:r>
            <a:r>
              <a:rPr b="1" lang="es-ES" sz="3600"/>
              <a:t> </a:t>
            </a:r>
            <a:br>
              <a:rPr b="1" lang="es-ES" sz="3600"/>
            </a:br>
            <a:r>
              <a:rPr b="1" lang="es-ES" sz="2000"/>
              <a:t>Uruguay</a:t>
            </a:r>
            <a:r>
              <a:rPr lang="es-ES" sz="2000"/>
              <a:t>.</a:t>
            </a:r>
            <a:endParaRPr sz="2000"/>
          </a:p>
        </p:txBody>
      </p:sp>
      <p:sp>
        <p:nvSpPr>
          <p:cNvPr id="228" name="Google Shape;228;p12"/>
          <p:cNvSpPr txBox="1"/>
          <p:nvPr>
            <p:ph idx="1" type="body"/>
          </p:nvPr>
        </p:nvSpPr>
        <p:spPr>
          <a:xfrm>
            <a:off x="1780213" y="4911406"/>
            <a:ext cx="8915400" cy="188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a:t>
            </a:r>
            <a:endParaRPr/>
          </a:p>
          <a:p>
            <a:pPr indent="0" lvl="0" marL="0" rtl="0" algn="l">
              <a:spcBef>
                <a:spcPts val="1000"/>
              </a:spcBef>
              <a:spcAft>
                <a:spcPts val="0"/>
              </a:spcAft>
              <a:buSzPts val="2400"/>
              <a:buFont typeface="Century Gothic"/>
              <a:buNone/>
            </a:pPr>
            <a:r>
              <a:rPr b="1" lang="es-ES"/>
              <a:t>Habitar la diversidad. Lenguas de señas, interculturalidad y prácticas educativas.</a:t>
            </a:r>
            <a:endParaRPr b="1"/>
          </a:p>
          <a:p>
            <a:pPr indent="0" lvl="0" marL="0" rtl="0" algn="just">
              <a:spcBef>
                <a:spcPts val="1000"/>
              </a:spcBef>
              <a:spcAft>
                <a:spcPts val="0"/>
              </a:spcAft>
              <a:buSzPts val="2400"/>
              <a:buNone/>
            </a:pPr>
            <a:r>
              <a:rPr b="1" lang="es-ES"/>
              <a:t>Fecha: 26 de junio de 2026</a:t>
            </a:r>
            <a:endParaRPr/>
          </a:p>
        </p:txBody>
      </p:sp>
      <p:sp>
        <p:nvSpPr>
          <p:cNvPr id="229" name="Google Shape;229;p12"/>
          <p:cNvSpPr txBox="1"/>
          <p:nvPr/>
        </p:nvSpPr>
        <p:spPr>
          <a:xfrm>
            <a:off x="1110625" y="1814900"/>
            <a:ext cx="10254600" cy="3263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ES" sz="2000">
                <a:solidFill>
                  <a:srgbClr val="262626"/>
                </a:solidFill>
                <a:latin typeface="Century Gothic"/>
                <a:ea typeface="Century Gothic"/>
                <a:cs typeface="Century Gothic"/>
                <a:sym typeface="Century Gothic"/>
              </a:rPr>
              <a:t>T</a:t>
            </a:r>
            <a:r>
              <a:rPr lang="es-ES" sz="2000">
                <a:solidFill>
                  <a:srgbClr val="262626"/>
                </a:solidFill>
                <a:latin typeface="Century Gothic"/>
                <a:ea typeface="Century Gothic"/>
                <a:cs typeface="Century Gothic"/>
                <a:sym typeface="Century Gothic"/>
              </a:rPr>
              <a:t>ecnóloga en interpretación y traducción en LSU-español titulada por la Facultad de Humanidades y Ciencias de la Educación de la Universidad de la República y maestranda en Diseño de Ambientes de Aprendizaje de la Universidad Tecnológica del Uruguay. Es profesora de la carrera de TUILSU (AES, FHCE, Udelar). Asimismo, se desempeña como coordinadora del Centro de Desarrollo Accesible de educación secundaria. Ha desarrollado una labor de investigación que se ha visto materializada en diversas publicaciones y ponencias en congresos. Es responsable del grupo de investigación autoidentificado de la Comisión Sectorial de Investigación Científica Análisis de traducción LSU-español (883643).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1"/>
          <p:cNvSpPr txBox="1"/>
          <p:nvPr>
            <p:ph type="title"/>
          </p:nvPr>
        </p:nvSpPr>
        <p:spPr>
          <a:xfrm>
            <a:off x="2849925" y="127327"/>
            <a:ext cx="8394000" cy="3976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s-ES" sz="3600"/>
              <a:t>Patricio </a:t>
            </a:r>
            <a:r>
              <a:rPr b="1" lang="es-ES" sz="3600"/>
              <a:t>Carreño,</a:t>
            </a:r>
            <a:r>
              <a:rPr b="1" lang="es-ES" sz="3600"/>
              <a:t> </a:t>
            </a:r>
            <a:br>
              <a:rPr b="1" lang="es-ES" sz="3600"/>
            </a:br>
            <a:r>
              <a:rPr b="1" lang="es-ES" sz="2000"/>
              <a:t>Chile</a:t>
            </a:r>
            <a:r>
              <a:rPr lang="es-ES" sz="2000"/>
              <a:t>. </a:t>
            </a:r>
            <a:endParaRPr sz="2000"/>
          </a:p>
          <a:p>
            <a:pPr indent="0" lvl="0" marL="0" rtl="0" algn="l">
              <a:spcBef>
                <a:spcPts val="0"/>
              </a:spcBef>
              <a:spcAft>
                <a:spcPts val="0"/>
              </a:spcAft>
              <a:buClr>
                <a:srgbClr val="262626"/>
              </a:buClr>
              <a:buSzPct val="180000"/>
              <a:buFont typeface="Century Gothic"/>
              <a:buNone/>
            </a:pPr>
            <a:r>
              <a:rPr lang="es-ES" sz="2000"/>
              <a:t>Académico investigador de la Universidad de las Américas de Chile. </a:t>
            </a:r>
            <a:endParaRPr sz="2000"/>
          </a:p>
          <a:p>
            <a:pPr indent="0" lvl="0" marL="0" rtl="0" algn="l">
              <a:spcBef>
                <a:spcPts val="0"/>
              </a:spcBef>
              <a:spcAft>
                <a:spcPts val="0"/>
              </a:spcAft>
              <a:buClr>
                <a:schemeClr val="dk1"/>
              </a:buClr>
              <a:buSzPct val="55000"/>
              <a:buFont typeface="Arial"/>
              <a:buNone/>
            </a:pPr>
            <a:r>
              <a:rPr lang="es-ES" sz="2000"/>
              <a:t>Es Doctor en Educación por la Universidad de Barcelona, especialista en Ética y Formación del Profesorado. </a:t>
            </a:r>
            <a:r>
              <a:rPr lang="es-ES" sz="2000"/>
              <a:t>Magíster</a:t>
            </a:r>
            <a:r>
              <a:rPr lang="es-ES" sz="2000"/>
              <a:t> en Gestión </a:t>
            </a:r>
            <a:r>
              <a:rPr lang="es-ES" sz="2000"/>
              <a:t>Educacional</a:t>
            </a:r>
            <a:r>
              <a:rPr lang="es-ES" sz="2000"/>
              <a:t> y Máster en Educación para la Ciudadanía por la </a:t>
            </a:r>
            <a:r>
              <a:rPr lang="es-ES" sz="2000"/>
              <a:t>Universidad</a:t>
            </a:r>
            <a:r>
              <a:rPr lang="es-ES" sz="2000"/>
              <a:t> de Barcelona. Ha desarrollado su trabajo y estudios sobre Formación para la ciudadanía, Educación en valores y Formación en Ética del Profesorado. Actualmente es miembro colaborador del GREM -UB, Grupo de Investigación en Educación Moral de la U. de Barcelona. </a:t>
            </a:r>
            <a:endParaRPr sz="2000"/>
          </a:p>
          <a:p>
            <a:pPr indent="0" lvl="0" marL="0" rtl="0" algn="l">
              <a:spcBef>
                <a:spcPts val="0"/>
              </a:spcBef>
              <a:spcAft>
                <a:spcPts val="0"/>
              </a:spcAft>
              <a:buClr>
                <a:schemeClr val="dk1"/>
              </a:buClr>
              <a:buSzPct val="55000"/>
              <a:buFont typeface="Arial"/>
              <a:buNone/>
            </a:pPr>
            <a:r>
              <a:rPr lang="es-ES" sz="2000"/>
              <a:t>ORCID: http://orcid.org/0000-001-7943-4327</a:t>
            </a:r>
            <a:endParaRPr sz="2000">
              <a:solidFill>
                <a:srgbClr val="494A4C"/>
              </a:solidFill>
              <a:highlight>
                <a:srgbClr val="FFFFFF"/>
              </a:highlight>
              <a:latin typeface="Arial"/>
              <a:ea typeface="Arial"/>
              <a:cs typeface="Arial"/>
              <a:sym typeface="Arial"/>
            </a:endParaRPr>
          </a:p>
          <a:p>
            <a:pPr indent="0" lvl="0" marL="0" rtl="0" algn="l">
              <a:spcBef>
                <a:spcPts val="0"/>
              </a:spcBef>
              <a:spcAft>
                <a:spcPts val="0"/>
              </a:spcAft>
              <a:buClr>
                <a:srgbClr val="262626"/>
              </a:buClr>
              <a:buSzPct val="180000"/>
              <a:buFont typeface="Century Gothic"/>
              <a:buNone/>
            </a:pPr>
            <a:r>
              <a:t/>
            </a:r>
            <a:endParaRPr sz="2000"/>
          </a:p>
        </p:txBody>
      </p:sp>
      <p:sp>
        <p:nvSpPr>
          <p:cNvPr id="235" name="Google Shape;235;p11"/>
          <p:cNvSpPr txBox="1"/>
          <p:nvPr>
            <p:ph idx="1" type="body"/>
          </p:nvPr>
        </p:nvSpPr>
        <p:spPr>
          <a:xfrm>
            <a:off x="2458113" y="3906373"/>
            <a:ext cx="8915400" cy="188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 </a:t>
            </a:r>
            <a:endParaRPr/>
          </a:p>
          <a:p>
            <a:pPr indent="0" lvl="0" marL="0" rtl="0" algn="just">
              <a:spcBef>
                <a:spcPts val="1000"/>
              </a:spcBef>
              <a:spcAft>
                <a:spcPts val="0"/>
              </a:spcAft>
              <a:buSzPts val="2400"/>
              <a:buNone/>
            </a:pPr>
            <a:r>
              <a:rPr lang="es-ES"/>
              <a:t>Claves para una formación en ciudadanía en la educación superior en América Latina</a:t>
            </a:r>
            <a:endParaRPr/>
          </a:p>
          <a:p>
            <a:pPr indent="0" lvl="0" marL="0" rtl="0" algn="just">
              <a:spcBef>
                <a:spcPts val="1000"/>
              </a:spcBef>
              <a:spcAft>
                <a:spcPts val="0"/>
              </a:spcAft>
              <a:buSzPts val="2400"/>
              <a:buNone/>
            </a:pPr>
            <a:r>
              <a:rPr lang="es-ES"/>
              <a:t>Fecha: 31</a:t>
            </a:r>
            <a:r>
              <a:rPr lang="es-ES"/>
              <a:t> de julio de</a:t>
            </a:r>
            <a:r>
              <a:rPr lang="es-ES"/>
              <a:t> 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0"/>
          <p:cNvSpPr txBox="1"/>
          <p:nvPr>
            <p:ph type="title"/>
          </p:nvPr>
        </p:nvSpPr>
        <p:spPr>
          <a:xfrm>
            <a:off x="1242050" y="66675"/>
            <a:ext cx="9944100" cy="51225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262626"/>
              </a:buClr>
              <a:buSzPts val="3240"/>
              <a:buFont typeface="Century Gothic"/>
              <a:buNone/>
            </a:pPr>
            <a:r>
              <a:rPr b="1" lang="es-ES" sz="3140"/>
              <a:t>Charito Távara Sabalú</a:t>
            </a:r>
            <a:br>
              <a:rPr b="1" lang="es-ES" sz="3240"/>
            </a:br>
            <a:r>
              <a:rPr b="1" lang="es-ES" sz="1800"/>
              <a:t>Perú</a:t>
            </a:r>
            <a:r>
              <a:rPr lang="es-ES" sz="1800"/>
              <a:t>. </a:t>
            </a:r>
            <a:endParaRPr sz="1800"/>
          </a:p>
          <a:p>
            <a:pPr indent="0" lvl="0" marL="0" rtl="0" algn="just">
              <a:spcBef>
                <a:spcPts val="0"/>
              </a:spcBef>
              <a:spcAft>
                <a:spcPts val="0"/>
              </a:spcAft>
              <a:buClr>
                <a:srgbClr val="262626"/>
              </a:buClr>
              <a:buSzPts val="3240"/>
              <a:buFont typeface="Century Gothic"/>
              <a:buNone/>
            </a:pPr>
            <a:r>
              <a:rPr b="1" lang="es-ES" sz="1800"/>
              <a:t>Perfil profesional</a:t>
            </a:r>
            <a:endParaRPr b="1" sz="1800"/>
          </a:p>
          <a:p>
            <a:pPr indent="0" lvl="0" marL="0" rtl="0" algn="just">
              <a:lnSpc>
                <a:spcPct val="115000"/>
              </a:lnSpc>
              <a:spcBef>
                <a:spcPts val="1200"/>
              </a:spcBef>
              <a:spcAft>
                <a:spcPts val="0"/>
              </a:spcAft>
              <a:buClr>
                <a:schemeClr val="dk1"/>
              </a:buClr>
              <a:buSzPts val="990"/>
              <a:buFont typeface="Arial"/>
              <a:buNone/>
            </a:pPr>
            <a:r>
              <a:rPr lang="es-ES" sz="1600"/>
              <a:t>Licenciada en Educación Primaria, Magíster en Orientación y Tutoría y doctoranda en Educación, con formación especializada en educación inclusiva, atención a la diversidad y estrategias psicopedagógicas.</a:t>
            </a:r>
            <a:endParaRPr sz="1600"/>
          </a:p>
          <a:p>
            <a:pPr indent="0" lvl="0" marL="0" rtl="0" algn="just">
              <a:lnSpc>
                <a:spcPct val="115000"/>
              </a:lnSpc>
              <a:spcBef>
                <a:spcPts val="1200"/>
              </a:spcBef>
              <a:spcAft>
                <a:spcPts val="0"/>
              </a:spcAft>
              <a:buClr>
                <a:schemeClr val="dk1"/>
              </a:buClr>
              <a:buSzPts val="990"/>
              <a:buFont typeface="Arial"/>
              <a:buNone/>
            </a:pPr>
            <a:r>
              <a:rPr lang="es-ES" sz="1600"/>
              <a:t>Se desempeña como docente universitaria, investigadora y consultora pedagógica, con experiencia en tutoría integral, acompañamiento socioemocional e innovación educativa. Sus intereses investigativos se centran en la educación inclusiva, el desarrollo socioemocional, la permanencia estudiantil y el bienestar integral.</a:t>
            </a:r>
            <a:endParaRPr sz="1600"/>
          </a:p>
          <a:p>
            <a:pPr indent="0" lvl="0" marL="0" rtl="0" algn="just">
              <a:lnSpc>
                <a:spcPct val="115000"/>
              </a:lnSpc>
              <a:spcBef>
                <a:spcPts val="1200"/>
              </a:spcBef>
              <a:spcAft>
                <a:spcPts val="0"/>
              </a:spcAft>
              <a:buClr>
                <a:schemeClr val="dk1"/>
              </a:buClr>
              <a:buSzPts val="990"/>
              <a:buFont typeface="Arial"/>
              <a:buNone/>
            </a:pPr>
            <a:r>
              <a:rPr lang="es-ES" sz="1600"/>
              <a:t>Ha participado en publicaciones académicas y en iniciativas de mejora educativa, y forma parte de redes de investigación a nivel nacional e internacional.</a:t>
            </a:r>
            <a:endParaRPr sz="1800"/>
          </a:p>
          <a:p>
            <a:pPr indent="0" lvl="0" marL="0" rtl="0" algn="just">
              <a:lnSpc>
                <a:spcPct val="115000"/>
              </a:lnSpc>
              <a:spcBef>
                <a:spcPts val="1200"/>
              </a:spcBef>
              <a:spcAft>
                <a:spcPts val="0"/>
              </a:spcAft>
              <a:buClr>
                <a:schemeClr val="dk1"/>
              </a:buClr>
              <a:buSzPts val="990"/>
              <a:buFont typeface="Arial"/>
              <a:buNone/>
            </a:pPr>
            <a:r>
              <a:rPr lang="es-ES" sz="1800"/>
              <a:t>A</a:t>
            </a:r>
            <a:r>
              <a:rPr lang="es-ES" sz="1800"/>
              <a:t>filiación institucional: UPCH   charito.tavara.s@upch.pe</a:t>
            </a:r>
            <a:endParaRPr sz="1800"/>
          </a:p>
          <a:p>
            <a:pPr indent="0" lvl="0" marL="0" rtl="0" algn="just">
              <a:spcBef>
                <a:spcPts val="1200"/>
              </a:spcBef>
              <a:spcAft>
                <a:spcPts val="0"/>
              </a:spcAft>
              <a:buClr>
                <a:srgbClr val="262626"/>
              </a:buClr>
              <a:buSzPts val="3240"/>
              <a:buFont typeface="Century Gothic"/>
              <a:buNone/>
            </a:pPr>
            <a:r>
              <a:rPr lang="es-ES" sz="1800"/>
              <a:t>ORCID: https://orcid.org/0000-0002-5523-8839</a:t>
            </a:r>
            <a:r>
              <a:rPr lang="es-ES" sz="1800"/>
              <a:t>)</a:t>
            </a:r>
            <a:endParaRPr sz="1800"/>
          </a:p>
        </p:txBody>
      </p:sp>
      <p:sp>
        <p:nvSpPr>
          <p:cNvPr id="241" name="Google Shape;241;p10"/>
          <p:cNvSpPr txBox="1"/>
          <p:nvPr>
            <p:ph idx="1" type="body"/>
          </p:nvPr>
        </p:nvSpPr>
        <p:spPr>
          <a:xfrm>
            <a:off x="451475" y="5425050"/>
            <a:ext cx="11115600" cy="1299600"/>
          </a:xfrm>
          <a:prstGeom prst="rect">
            <a:avLst/>
          </a:prstGeom>
          <a:noFill/>
          <a:ln>
            <a:noFill/>
          </a:ln>
        </p:spPr>
        <p:txBody>
          <a:bodyPr anchorCtr="0" anchor="b" bIns="45700" lIns="91425" spcFirstLastPara="1" rIns="91425" wrap="square" tIns="45700">
            <a:noAutofit/>
          </a:bodyPr>
          <a:lstStyle/>
          <a:p>
            <a:pPr indent="0" lvl="0" marL="0" rtl="0" algn="just">
              <a:spcBef>
                <a:spcPts val="0"/>
              </a:spcBef>
              <a:spcAft>
                <a:spcPts val="0"/>
              </a:spcAft>
              <a:buSzPts val="2400"/>
              <a:buFont typeface="Century Gothic"/>
              <a:buNone/>
            </a:pPr>
            <a:r>
              <a:t/>
            </a:r>
            <a:endParaRPr b="1"/>
          </a:p>
          <a:p>
            <a:pPr indent="0" lvl="0" marL="0" rtl="0" algn="just">
              <a:spcBef>
                <a:spcPts val="0"/>
              </a:spcBef>
              <a:spcAft>
                <a:spcPts val="0"/>
              </a:spcAft>
              <a:buSzPts val="2400"/>
              <a:buFont typeface="Century Gothic"/>
              <a:buNone/>
            </a:pPr>
            <a:br>
              <a:rPr b="1" lang="es-ES"/>
            </a:br>
            <a:endParaRPr b="1"/>
          </a:p>
          <a:p>
            <a:pPr indent="0" lvl="0" marL="0" rtl="0" algn="just">
              <a:spcBef>
                <a:spcPts val="0"/>
              </a:spcBef>
              <a:spcAft>
                <a:spcPts val="0"/>
              </a:spcAft>
              <a:buSzPts val="2400"/>
              <a:buFont typeface="Century Gothic"/>
              <a:buNone/>
            </a:pPr>
            <a:r>
              <a:t/>
            </a:r>
            <a:endParaRPr b="1"/>
          </a:p>
          <a:p>
            <a:pPr indent="0" lvl="0" marL="0" rtl="0" algn="just">
              <a:spcBef>
                <a:spcPts val="0"/>
              </a:spcBef>
              <a:spcAft>
                <a:spcPts val="0"/>
              </a:spcAft>
              <a:buSzPts val="2400"/>
              <a:buFont typeface="Century Gothic"/>
              <a:buNone/>
            </a:pPr>
            <a:r>
              <a:rPr b="1" lang="es-ES" sz="2200"/>
              <a:t>Tema a disertar: “Pekeguardianes de la casa común: educación inclusiva y movilización comunitaria en la construcción de conciencia ambiental”</a:t>
            </a:r>
            <a:endParaRPr sz="2200"/>
          </a:p>
          <a:p>
            <a:pPr indent="0" lvl="0" marL="0" rtl="0" algn="r">
              <a:spcBef>
                <a:spcPts val="1000"/>
              </a:spcBef>
              <a:spcAft>
                <a:spcPts val="0"/>
              </a:spcAft>
              <a:buSzPts val="2400"/>
              <a:buNone/>
            </a:pPr>
            <a:r>
              <a:rPr b="1" i="1" lang="es-ES" sz="2200"/>
              <a:t>Fecha: 28 de agosto de 2026</a:t>
            </a:r>
            <a:endParaRPr b="1" i="1"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2416100" y="1844325"/>
            <a:ext cx="8991900" cy="20535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s-ES" sz="3600"/>
              <a:t>Diego </a:t>
            </a:r>
            <a:r>
              <a:rPr b="1" lang="es-ES" sz="3600"/>
              <a:t>Daluz,</a:t>
            </a:r>
            <a:br>
              <a:rPr b="1" lang="es-ES" sz="3600"/>
            </a:br>
            <a:r>
              <a:rPr b="1" lang="es-ES" sz="2000"/>
              <a:t>Uru</a:t>
            </a:r>
            <a:r>
              <a:rPr b="1" lang="es-ES" sz="2000"/>
              <a:t>g</a:t>
            </a:r>
            <a:r>
              <a:rPr b="1" lang="es-ES" sz="2000"/>
              <a:t>uay.</a:t>
            </a:r>
            <a:r>
              <a:rPr lang="es-ES" sz="2000"/>
              <a:t> </a:t>
            </a:r>
            <a:endParaRPr sz="2000"/>
          </a:p>
          <a:p>
            <a:pPr indent="0" lvl="0" marL="0" rtl="0" algn="l">
              <a:spcBef>
                <a:spcPts val="0"/>
              </a:spcBef>
              <a:spcAft>
                <a:spcPts val="0"/>
              </a:spcAft>
              <a:buClr>
                <a:srgbClr val="262626"/>
              </a:buClr>
              <a:buSzPct val="180000"/>
              <a:buFont typeface="Century Gothic"/>
              <a:buNone/>
            </a:pPr>
            <a:r>
              <a:rPr lang="es-ES" sz="2000"/>
              <a:t>Profesor de Educación Media, especialidad Informática. Educador Técnico y Gestor de Tecnologías Digitales. Magíster en Educación, Diplomado en Formación de Formadores y en Ciencias Sociales con mención en Educación y Nuevas Tecnologías.</a:t>
            </a:r>
            <a:endParaRPr sz="2000"/>
          </a:p>
          <a:p>
            <a:pPr indent="0" lvl="0" marL="0" rtl="0" algn="l">
              <a:spcBef>
                <a:spcPts val="0"/>
              </a:spcBef>
              <a:spcAft>
                <a:spcPts val="0"/>
              </a:spcAft>
              <a:buClr>
                <a:srgbClr val="262626"/>
              </a:buClr>
              <a:buSzPct val="180000"/>
              <a:buFont typeface="Century Gothic"/>
              <a:buNone/>
            </a:pPr>
            <a:r>
              <a:t/>
            </a:r>
            <a:endParaRPr sz="2000"/>
          </a:p>
          <a:p>
            <a:pPr indent="0" lvl="0" marL="0" rtl="0" algn="l">
              <a:spcBef>
                <a:spcPts val="0"/>
              </a:spcBef>
              <a:spcAft>
                <a:spcPts val="0"/>
              </a:spcAft>
              <a:buClr>
                <a:srgbClr val="262626"/>
              </a:buClr>
              <a:buSzPct val="180000"/>
              <a:buFont typeface="Century Gothic"/>
              <a:buNone/>
            </a:pPr>
            <a:r>
              <a:rPr lang="es-ES" sz="2000"/>
              <a:t>Formador de docentes de grado en el ámbito del Consejo de Formación en Educación (CFE - ANEP). Docente de Educación Media (DGETP-ANEP). Referente de Tecnología en el Centro de Desarrollo Accesible (CERESO-DGES).</a:t>
            </a:r>
            <a:endParaRPr sz="2000"/>
          </a:p>
          <a:p>
            <a:pPr indent="0" lvl="0" marL="0" rtl="0" algn="l">
              <a:spcBef>
                <a:spcPts val="0"/>
              </a:spcBef>
              <a:spcAft>
                <a:spcPts val="0"/>
              </a:spcAft>
              <a:buClr>
                <a:srgbClr val="262626"/>
              </a:buClr>
              <a:buSzPct val="180000"/>
              <a:buFont typeface="Century Gothic"/>
              <a:buNone/>
            </a:pPr>
            <a:r>
              <a:t/>
            </a:r>
            <a:endParaRPr sz="2000"/>
          </a:p>
          <a:p>
            <a:pPr indent="0" lvl="0" marL="0" rtl="0" algn="l">
              <a:spcBef>
                <a:spcPts val="0"/>
              </a:spcBef>
              <a:spcAft>
                <a:spcPts val="0"/>
              </a:spcAft>
              <a:buClr>
                <a:srgbClr val="262626"/>
              </a:buClr>
              <a:buSzPct val="180000"/>
              <a:buFont typeface="Century Gothic"/>
              <a:buNone/>
            </a:pPr>
            <a:r>
              <a:rPr lang="es-ES" sz="2000"/>
              <a:t>ORCID: </a:t>
            </a:r>
            <a:r>
              <a:rPr lang="es-ES" sz="2000" u="sng">
                <a:solidFill>
                  <a:schemeClr val="hlink"/>
                </a:solidFill>
                <a:hlinkClick r:id="rId3"/>
              </a:rPr>
              <a:t>https://orcid.org/0009-0007-3089-6652</a:t>
            </a:r>
            <a:endParaRPr sz="2000"/>
          </a:p>
        </p:txBody>
      </p:sp>
      <p:sp>
        <p:nvSpPr>
          <p:cNvPr id="247" name="Google Shape;247;p13"/>
          <p:cNvSpPr txBox="1"/>
          <p:nvPr>
            <p:ph idx="1" type="body"/>
          </p:nvPr>
        </p:nvSpPr>
        <p:spPr>
          <a:xfrm>
            <a:off x="2454338" y="4779123"/>
            <a:ext cx="8915400" cy="188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a:t>
            </a:r>
            <a:endParaRPr/>
          </a:p>
          <a:p>
            <a:pPr indent="0" lvl="0" marL="0" rtl="0" algn="l">
              <a:spcBef>
                <a:spcPts val="1000"/>
              </a:spcBef>
              <a:spcAft>
                <a:spcPts val="0"/>
              </a:spcAft>
              <a:buSzPts val="2400"/>
              <a:buFont typeface="Century Gothic"/>
              <a:buNone/>
            </a:pPr>
            <a:r>
              <a:rPr b="1" lang="es-ES"/>
              <a:t>Interculturalidad y migración en la formación inicial docente: un análisis de los programas de estudio.</a:t>
            </a:r>
            <a:endParaRPr/>
          </a:p>
          <a:p>
            <a:pPr indent="0" lvl="0" marL="0" rtl="0" algn="just">
              <a:spcBef>
                <a:spcPts val="1000"/>
              </a:spcBef>
              <a:spcAft>
                <a:spcPts val="0"/>
              </a:spcAft>
              <a:buSzPts val="2400"/>
              <a:buNone/>
            </a:pPr>
            <a:r>
              <a:rPr lang="es-ES"/>
              <a:t>Fecha: 25</a:t>
            </a:r>
            <a:r>
              <a:rPr lang="es-ES"/>
              <a:t> de septiembre de</a:t>
            </a:r>
            <a:r>
              <a:rPr lang="es-ES"/>
              <a:t>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4"/>
          <p:cNvSpPr txBox="1"/>
          <p:nvPr>
            <p:ph type="title"/>
          </p:nvPr>
        </p:nvSpPr>
        <p:spPr>
          <a:xfrm>
            <a:off x="833125" y="751825"/>
            <a:ext cx="11155800" cy="2164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br>
              <a:rPr b="1" lang="es-ES" sz="3600"/>
            </a:br>
            <a:r>
              <a:rPr b="1" lang="es-ES" sz="3600"/>
              <a:t>Idania Valverde </a:t>
            </a:r>
            <a:r>
              <a:rPr b="1" lang="es-ES" sz="3600"/>
              <a:t>Rojas</a:t>
            </a:r>
            <a:r>
              <a:rPr b="1" lang="es-ES" sz="3600"/>
              <a:t>  </a:t>
            </a:r>
            <a:br>
              <a:rPr b="1" lang="es-ES" sz="3600"/>
            </a:br>
            <a:r>
              <a:rPr b="1" lang="es-ES" sz="2000"/>
              <a:t>Costa Rica</a:t>
            </a:r>
            <a:r>
              <a:rPr lang="es-ES" sz="2000"/>
              <a:t>. Perfil profesional (formación, experiencia, afiliación institucional y </a:t>
            </a:r>
            <a:r>
              <a:rPr lang="es-ES" sz="2000"/>
              <a:t>ORCID</a:t>
            </a:r>
            <a:r>
              <a:rPr lang="es-ES" sz="2000"/>
              <a:t>)</a:t>
            </a:r>
            <a:endParaRPr sz="2000"/>
          </a:p>
          <a:p>
            <a:pPr indent="0" lvl="0" marL="0" rtl="0" algn="l">
              <a:spcBef>
                <a:spcPts val="0"/>
              </a:spcBef>
              <a:spcAft>
                <a:spcPts val="0"/>
              </a:spcAft>
              <a:buClr>
                <a:srgbClr val="262626"/>
              </a:buClr>
              <a:buSzPct val="180000"/>
              <a:buFont typeface="Century Gothic"/>
              <a:buNone/>
            </a:pPr>
            <a:r>
              <a:t/>
            </a:r>
            <a:endParaRPr sz="2000"/>
          </a:p>
          <a:p>
            <a:pPr indent="0" lvl="0" marL="0" rtl="0" algn="l">
              <a:lnSpc>
                <a:spcPct val="115000"/>
              </a:lnSpc>
              <a:spcBef>
                <a:spcPts val="1200"/>
              </a:spcBef>
              <a:spcAft>
                <a:spcPts val="0"/>
              </a:spcAft>
              <a:buClr>
                <a:schemeClr val="dk1"/>
              </a:buClr>
              <a:buSzPct val="55000"/>
              <a:buFont typeface="Arial"/>
              <a:buNone/>
            </a:pPr>
            <a:r>
              <a:rPr lang="es-ES" sz="2000"/>
              <a:t>Master en Ciencias de la Educación con enfásis en Docencia y Licenciada en Manejo de Recursos Naturales. L</a:t>
            </a:r>
            <a:r>
              <a:rPr lang="es-ES" sz="2000"/>
              <a:t>abora actualmente en la Escuela de Ciencias Exactas y Naturales de la Universidad Estatal a Distancia de San José, Costa Rica. Actualmente coordina la Cátedra de Ecología y Educación Ambiental de la carrera de Bachillerato y Licenciatura en Manejo de Recursos Naturales.  ORCID </a:t>
            </a:r>
            <a:r>
              <a:rPr lang="es-ES" sz="2533">
                <a:solidFill>
                  <a:schemeClr val="dk1"/>
                </a:solidFill>
                <a:latin typeface="Times New Roman"/>
                <a:ea typeface="Times New Roman"/>
                <a:cs typeface="Times New Roman"/>
                <a:sym typeface="Times New Roman"/>
              </a:rPr>
              <a:t>https:// 0000-0001-6112-4814</a:t>
            </a:r>
            <a:endParaRPr sz="3333"/>
          </a:p>
          <a:p>
            <a:pPr indent="0" lvl="0" marL="0" rtl="0" algn="l">
              <a:spcBef>
                <a:spcPts val="1200"/>
              </a:spcBef>
              <a:spcAft>
                <a:spcPts val="0"/>
              </a:spcAft>
              <a:buClr>
                <a:srgbClr val="262626"/>
              </a:buClr>
              <a:buSzPct val="180000"/>
              <a:buFont typeface="Century Gothic"/>
              <a:buNone/>
            </a:pPr>
            <a:r>
              <a:t/>
            </a:r>
            <a:endParaRPr sz="2000"/>
          </a:p>
        </p:txBody>
      </p:sp>
      <p:sp>
        <p:nvSpPr>
          <p:cNvPr id="253" name="Google Shape;253;p14"/>
          <p:cNvSpPr txBox="1"/>
          <p:nvPr>
            <p:ph idx="1" type="body"/>
          </p:nvPr>
        </p:nvSpPr>
        <p:spPr>
          <a:xfrm>
            <a:off x="833125" y="4529100"/>
            <a:ext cx="11155800" cy="188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a:t>
            </a:r>
            <a:endParaRPr/>
          </a:p>
          <a:p>
            <a:pPr indent="0" lvl="0" marL="0" rtl="0" algn="l">
              <a:spcBef>
                <a:spcPts val="1000"/>
              </a:spcBef>
              <a:spcAft>
                <a:spcPts val="0"/>
              </a:spcAft>
              <a:buClr>
                <a:schemeClr val="dk1"/>
              </a:buClr>
              <a:buSzPts val="2400"/>
              <a:buFont typeface="Century Gothic"/>
              <a:buNone/>
            </a:pPr>
            <a:r>
              <a:rPr lang="es-ES" sz="3200">
                <a:solidFill>
                  <a:schemeClr val="dk1"/>
                </a:solidFill>
                <a:highlight>
                  <a:srgbClr val="FFFFFF"/>
                </a:highlight>
                <a:latin typeface="Calibri"/>
                <a:ea typeface="Calibri"/>
                <a:cs typeface="Calibri"/>
                <a:sym typeface="Calibri"/>
              </a:rPr>
              <a:t>Factores que influyen en el desarrollo de estrategias pedagógicas para el abordaje de estudiantes con TEA en giras, laboratorios y talleres de una carrera del área de ciencias naturales de la Universidad Estatal a Distancia, Costa Rica.</a:t>
            </a:r>
            <a:endParaRPr/>
          </a:p>
          <a:p>
            <a:pPr indent="0" lvl="0" marL="0" rtl="0" algn="l">
              <a:spcBef>
                <a:spcPts val="0"/>
              </a:spcBef>
              <a:spcAft>
                <a:spcPts val="0"/>
              </a:spcAft>
              <a:buSzPts val="2400"/>
              <a:buFont typeface="Century Gothic"/>
              <a:buNone/>
            </a:pPr>
            <a:r>
              <a:rPr lang="es-ES"/>
              <a:t>Fecha: 30</a:t>
            </a:r>
            <a:r>
              <a:rPr lang="es-ES"/>
              <a:t> de octubre de</a:t>
            </a:r>
            <a:r>
              <a:rPr lang="es-ES"/>
              <a:t> 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txBox="1"/>
          <p:nvPr>
            <p:ph type="title"/>
          </p:nvPr>
        </p:nvSpPr>
        <p:spPr>
          <a:xfrm>
            <a:off x="1038500" y="94450"/>
            <a:ext cx="9944700" cy="35109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br>
              <a:rPr b="1" lang="es-ES" sz="3600"/>
            </a:br>
            <a:r>
              <a:rPr b="1" lang="es-ES" sz="3600"/>
              <a:t>Magaly </a:t>
            </a:r>
            <a:r>
              <a:rPr b="1" lang="es-ES" sz="3600"/>
              <a:t>Rodríguez</a:t>
            </a:r>
            <a:r>
              <a:rPr b="1" lang="es-ES" sz="3600"/>
              <a:t> </a:t>
            </a:r>
            <a:r>
              <a:rPr b="1" lang="es-ES" sz="3600"/>
              <a:t>Calvo</a:t>
            </a:r>
            <a:r>
              <a:rPr b="1" lang="es-ES" sz="3600"/>
              <a:t>  </a:t>
            </a:r>
            <a:br>
              <a:rPr b="1" lang="es-ES" sz="3600"/>
            </a:br>
            <a:r>
              <a:rPr b="1" lang="es-ES" sz="2000"/>
              <a:t>Costa Rica</a:t>
            </a:r>
            <a:r>
              <a:rPr lang="es-ES" sz="2000"/>
              <a:t>. </a:t>
            </a:r>
            <a:r>
              <a:rPr lang="es-ES" sz="1911">
                <a:solidFill>
                  <a:schemeClr val="dk1"/>
                </a:solidFill>
                <a:latin typeface="Arial"/>
                <a:ea typeface="Arial"/>
                <a:cs typeface="Arial"/>
                <a:sym typeface="Arial"/>
              </a:rPr>
              <a:t>Master en Administración Educativa de la Universidad Estatal a Distancia de Costa Rica y Licenciada en Biología Tropical con énfasis en Manejo de los Recursos Naturales de la Universidad Nacional de Costa Rica.</a:t>
            </a:r>
            <a:endParaRPr sz="1911">
              <a:solidFill>
                <a:schemeClr val="dk1"/>
              </a:solidFill>
              <a:latin typeface="Arial"/>
              <a:ea typeface="Arial"/>
              <a:cs typeface="Arial"/>
              <a:sym typeface="Arial"/>
            </a:endParaRPr>
          </a:p>
          <a:p>
            <a:pPr indent="0" lvl="0" marL="0" rtl="0" algn="just">
              <a:lnSpc>
                <a:spcPct val="115000"/>
              </a:lnSpc>
              <a:spcBef>
                <a:spcPts val="0"/>
              </a:spcBef>
              <a:spcAft>
                <a:spcPts val="0"/>
              </a:spcAft>
              <a:buClr>
                <a:schemeClr val="dk1"/>
              </a:buClr>
              <a:buSzPct val="57558"/>
              <a:buFont typeface="Arial"/>
              <a:buNone/>
            </a:pPr>
            <a:r>
              <a:rPr lang="es-ES" sz="1911">
                <a:solidFill>
                  <a:schemeClr val="dk1"/>
                </a:solidFill>
                <a:latin typeface="Arial"/>
                <a:ea typeface="Arial"/>
                <a:cs typeface="Arial"/>
                <a:sym typeface="Arial"/>
              </a:rPr>
              <a:t>Labora actualmente para la Escuela de Ciencias Exactas y Naturales de la Universidad Estatal a Distancia de Costa Rica, coordinando la Cátedra de Ciencias Naturales. Participa en proyectos de Extensión, Investigación y Docencia relacionados en el área de las ciencias naturales. </a:t>
            </a:r>
            <a:r>
              <a:rPr lang="es-ES" sz="1911"/>
              <a:t>ORCID https://</a:t>
            </a:r>
            <a:r>
              <a:rPr lang="es-ES" sz="1911">
                <a:solidFill>
                  <a:schemeClr val="dk1"/>
                </a:solidFill>
                <a:latin typeface="Arial"/>
                <a:ea typeface="Arial"/>
                <a:cs typeface="Arial"/>
                <a:sym typeface="Arial"/>
              </a:rPr>
              <a:t>0000-0002-1046-2212</a:t>
            </a:r>
            <a:endParaRPr sz="1911">
              <a:solidFill>
                <a:schemeClr val="dk1"/>
              </a:solidFill>
              <a:latin typeface="Arial"/>
              <a:ea typeface="Arial"/>
              <a:cs typeface="Arial"/>
              <a:sym typeface="Arial"/>
            </a:endParaRPr>
          </a:p>
          <a:p>
            <a:pPr indent="0" lvl="0" marL="0" rtl="0" algn="l">
              <a:spcBef>
                <a:spcPts val="0"/>
              </a:spcBef>
              <a:spcAft>
                <a:spcPts val="0"/>
              </a:spcAft>
              <a:buClr>
                <a:srgbClr val="262626"/>
              </a:buClr>
              <a:buSzPct val="180000"/>
              <a:buFont typeface="Century Gothic"/>
              <a:buNone/>
            </a:pPr>
            <a:r>
              <a:t/>
            </a:r>
            <a:endParaRPr sz="2000"/>
          </a:p>
        </p:txBody>
      </p:sp>
      <p:sp>
        <p:nvSpPr>
          <p:cNvPr id="259" name="Google Shape;259;p15"/>
          <p:cNvSpPr txBox="1"/>
          <p:nvPr>
            <p:ph idx="1" type="body"/>
          </p:nvPr>
        </p:nvSpPr>
        <p:spPr>
          <a:xfrm>
            <a:off x="315000" y="4023300"/>
            <a:ext cx="11877000" cy="2834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a:t>
            </a:r>
            <a:endParaRPr sz="2600"/>
          </a:p>
          <a:p>
            <a:pPr indent="0" lvl="0" marL="0" rtl="0" algn="l">
              <a:spcBef>
                <a:spcPts val="1000"/>
              </a:spcBef>
              <a:spcAft>
                <a:spcPts val="0"/>
              </a:spcAft>
              <a:buSzPts val="2400"/>
              <a:buFont typeface="Century Gothic"/>
              <a:buNone/>
            </a:pPr>
            <a:r>
              <a:rPr lang="es-ES" sz="3200">
                <a:solidFill>
                  <a:schemeClr val="dk1"/>
                </a:solidFill>
                <a:highlight>
                  <a:srgbClr val="FFFFFF"/>
                </a:highlight>
                <a:latin typeface="Calibri"/>
                <a:ea typeface="Calibri"/>
                <a:cs typeface="Calibri"/>
                <a:sym typeface="Calibri"/>
              </a:rPr>
              <a:t>Factores que influyen en el desarrollo de estrategias pedagógicas para el abordaje de estudiantes con TEA en giras, laboratorios y talleres de una carrera del área de ciencias naturales de la Universidad Estatal a Distancia, Costa Rica.</a:t>
            </a:r>
            <a:endParaRPr sz="4500"/>
          </a:p>
          <a:p>
            <a:pPr indent="0" lvl="0" marL="0" rtl="0" algn="just">
              <a:spcBef>
                <a:spcPts val="1000"/>
              </a:spcBef>
              <a:spcAft>
                <a:spcPts val="0"/>
              </a:spcAft>
              <a:buSzPts val="2400"/>
              <a:buNone/>
            </a:pPr>
            <a:r>
              <a:rPr lang="es-ES"/>
              <a:t>Fecha: 30</a:t>
            </a:r>
            <a:r>
              <a:rPr lang="es-ES"/>
              <a:t> de octubre de</a:t>
            </a:r>
            <a:r>
              <a:rPr lang="es-ES"/>
              <a:t> 2026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txBox="1"/>
          <p:nvPr>
            <p:ph type="title"/>
          </p:nvPr>
        </p:nvSpPr>
        <p:spPr>
          <a:xfrm>
            <a:off x="2443775" y="317350"/>
            <a:ext cx="8397000" cy="31308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rgbClr val="262626"/>
              </a:buClr>
              <a:buSzPct val="100000"/>
              <a:buFont typeface="Century Gothic"/>
              <a:buNone/>
            </a:pPr>
            <a:br>
              <a:rPr b="1" lang="es-ES" sz="3200"/>
            </a:br>
            <a:r>
              <a:rPr b="1" lang="es-ES" sz="3200"/>
              <a:t>Ángela Rodríguez </a:t>
            </a:r>
            <a:r>
              <a:rPr b="1" lang="es-ES" sz="3200"/>
              <a:t>Rodríguez,</a:t>
            </a:r>
            <a:br>
              <a:rPr b="1" lang="es-ES" sz="3200"/>
            </a:br>
            <a:r>
              <a:rPr b="1" lang="es-ES" sz="2000"/>
              <a:t>Colombia</a:t>
            </a:r>
            <a:r>
              <a:rPr b="1" lang="es-ES" sz="3200"/>
              <a:t>.</a:t>
            </a:r>
            <a:r>
              <a:rPr b="1" lang="es-ES" sz="3600"/>
              <a:t> </a:t>
            </a:r>
            <a:r>
              <a:rPr lang="es-ES" sz="2000"/>
              <a:t>Trabajadora Social, </a:t>
            </a:r>
            <a:r>
              <a:rPr lang="es-ES" sz="2000"/>
              <a:t>Magíster</a:t>
            </a:r>
            <a:r>
              <a:rPr lang="es-ES" sz="2000"/>
              <a:t> en desarrollo Social y Educativo, experiencia en construcción y desarrollo de políticas </a:t>
            </a:r>
            <a:r>
              <a:rPr lang="es-ES" sz="2000"/>
              <a:t>públicas y proyectos sociales, especialista en temas de género, Especialista en ambientes virtuales de aprendizaje, Docente investigadora en educación superior en posgrado, actualmente vinculada a la Universidad Corporación iberoamericana. </a:t>
            </a:r>
            <a:r>
              <a:rPr lang="es-ES" sz="2000" u="sng">
                <a:solidFill>
                  <a:schemeClr val="hlink"/>
                </a:solidFill>
                <a:hlinkClick r:id="rId3"/>
              </a:rPr>
              <a:t>https://orcid.org/0009-0007-4886-5301</a:t>
            </a:r>
            <a:endParaRPr sz="2000"/>
          </a:p>
          <a:p>
            <a:pPr indent="0" lvl="0" marL="0" rtl="0" algn="just">
              <a:spcBef>
                <a:spcPts val="0"/>
              </a:spcBef>
              <a:spcAft>
                <a:spcPts val="0"/>
              </a:spcAft>
              <a:buClr>
                <a:srgbClr val="262626"/>
              </a:buClr>
              <a:buSzPct val="160000"/>
              <a:buFont typeface="Century Gothic"/>
              <a:buNone/>
            </a:pPr>
            <a:r>
              <a:t/>
            </a:r>
            <a:endParaRPr sz="2000"/>
          </a:p>
        </p:txBody>
      </p:sp>
      <p:sp>
        <p:nvSpPr>
          <p:cNvPr id="265" name="Google Shape;265;p16"/>
          <p:cNvSpPr txBox="1"/>
          <p:nvPr>
            <p:ph idx="1" type="body"/>
          </p:nvPr>
        </p:nvSpPr>
        <p:spPr>
          <a:xfrm>
            <a:off x="2589213" y="3919473"/>
            <a:ext cx="8915400" cy="1888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a:t>Tema a disertar </a:t>
            </a:r>
            <a:endParaRPr/>
          </a:p>
          <a:p>
            <a:pPr indent="0" lvl="0" marL="0" rtl="0" algn="just">
              <a:spcBef>
                <a:spcPts val="1000"/>
              </a:spcBef>
              <a:spcAft>
                <a:spcPts val="0"/>
              </a:spcAft>
              <a:buSzPts val="2400"/>
              <a:buNone/>
            </a:pPr>
            <a:r>
              <a:rPr lang="es-ES"/>
              <a:t>Políticas públicas y </a:t>
            </a:r>
            <a:r>
              <a:rPr lang="es-ES"/>
              <a:t>marcos</a:t>
            </a:r>
            <a:r>
              <a:rPr lang="es-ES"/>
              <a:t> normativos de la educación inclusiva e intercultural en América </a:t>
            </a:r>
            <a:r>
              <a:rPr lang="es-ES"/>
              <a:t>Latina.</a:t>
            </a:r>
            <a:endParaRPr/>
          </a:p>
          <a:p>
            <a:pPr indent="0" lvl="0" marL="0" rtl="0" algn="just">
              <a:spcBef>
                <a:spcPts val="1000"/>
              </a:spcBef>
              <a:spcAft>
                <a:spcPts val="0"/>
              </a:spcAft>
              <a:buSzPts val="2400"/>
              <a:buNone/>
            </a:pPr>
            <a:r>
              <a:t/>
            </a:r>
            <a:endParaRPr/>
          </a:p>
          <a:p>
            <a:pPr indent="0" lvl="0" marL="0" rtl="0" algn="just">
              <a:spcBef>
                <a:spcPts val="1000"/>
              </a:spcBef>
              <a:spcAft>
                <a:spcPts val="0"/>
              </a:spcAft>
              <a:buSzPts val="2400"/>
              <a:buNone/>
            </a:pPr>
            <a:r>
              <a:rPr lang="es-ES"/>
              <a:t>Fecha: 13 de noviembre de 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7"/>
          <p:cNvSpPr txBox="1"/>
          <p:nvPr>
            <p:ph type="title"/>
          </p:nvPr>
        </p:nvSpPr>
        <p:spPr>
          <a:xfrm>
            <a:off x="2430525" y="885750"/>
            <a:ext cx="8849100" cy="23673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rgbClr val="262626"/>
              </a:buClr>
              <a:buSzPct val="100000"/>
              <a:buFont typeface="Century Gothic"/>
              <a:buNone/>
            </a:pPr>
            <a:r>
              <a:rPr b="1" lang="es-ES" sz="3200"/>
              <a:t>Reisner de Jesús Ravelo </a:t>
            </a:r>
            <a:r>
              <a:rPr b="1" lang="es-ES" sz="3200"/>
              <a:t>Méndez,</a:t>
            </a:r>
            <a:r>
              <a:rPr b="1" lang="es-ES" sz="3200"/>
              <a:t> </a:t>
            </a:r>
            <a:br>
              <a:rPr b="1" lang="es-ES" sz="3200"/>
            </a:br>
            <a:r>
              <a:rPr b="1" lang="es-ES" sz="2000"/>
              <a:t>Colombia</a:t>
            </a:r>
            <a:r>
              <a:rPr b="1" lang="es-ES" sz="3200"/>
              <a:t>.</a:t>
            </a:r>
            <a:r>
              <a:rPr b="1" lang="es-ES" sz="3600"/>
              <a:t> </a:t>
            </a:r>
            <a:r>
              <a:rPr lang="es-ES" sz="2044"/>
              <a:t>Perfil profesional: </a:t>
            </a:r>
            <a:r>
              <a:rPr lang="es-ES" sz="2000"/>
              <a:t>Licenciado en ciencias sociales; Especialista en </a:t>
            </a:r>
            <a:r>
              <a:rPr lang="es-ES" sz="2000"/>
              <a:t>pedagogía</a:t>
            </a:r>
            <a:r>
              <a:rPr lang="es-ES" sz="2000"/>
              <a:t>; </a:t>
            </a:r>
            <a:r>
              <a:rPr lang="es-ES" sz="2000"/>
              <a:t>Magíster</a:t>
            </a:r>
            <a:r>
              <a:rPr lang="es-ES" sz="2000"/>
              <a:t> en desarrollo educativo y social; </a:t>
            </a:r>
            <a:r>
              <a:rPr lang="es-ES" sz="2000"/>
              <a:t>Doctor</a:t>
            </a:r>
            <a:r>
              <a:rPr lang="es-ES" sz="2000"/>
              <a:t> en ciencias sociales, niñez y juventud. Docente en </a:t>
            </a:r>
            <a:r>
              <a:rPr lang="es-ES" sz="2000"/>
              <a:t>educación</a:t>
            </a:r>
            <a:r>
              <a:rPr lang="es-ES" sz="2000"/>
              <a:t> superior en pregrado y posgrado, vinculado al programa de maestria en educacion en la Universidad C</a:t>
            </a:r>
            <a:r>
              <a:rPr lang="es-ES" sz="2000"/>
              <a:t>orporación</a:t>
            </a:r>
            <a:r>
              <a:rPr lang="es-ES" sz="2000"/>
              <a:t> iberoamericana.</a:t>
            </a:r>
            <a:endParaRPr sz="2000"/>
          </a:p>
          <a:p>
            <a:pPr indent="0" lvl="0" marL="0" rtl="0" algn="just">
              <a:spcBef>
                <a:spcPts val="0"/>
              </a:spcBef>
              <a:spcAft>
                <a:spcPts val="0"/>
              </a:spcAft>
              <a:buClr>
                <a:srgbClr val="262626"/>
              </a:buClr>
              <a:buSzPct val="160000"/>
              <a:buFont typeface="Century Gothic"/>
              <a:buNone/>
            </a:pPr>
            <a:r>
              <a:rPr lang="es-ES" sz="2000" u="sng">
                <a:solidFill>
                  <a:schemeClr val="hlink"/>
                </a:solidFill>
                <a:hlinkClick r:id="rId3"/>
              </a:rPr>
              <a:t>https://orcid.org/0000-0001-6455-5425</a:t>
            </a:r>
            <a:endParaRPr sz="2000"/>
          </a:p>
          <a:p>
            <a:pPr indent="0" lvl="0" marL="0" rtl="0" algn="just">
              <a:spcBef>
                <a:spcPts val="0"/>
              </a:spcBef>
              <a:spcAft>
                <a:spcPts val="0"/>
              </a:spcAft>
              <a:buClr>
                <a:srgbClr val="262626"/>
              </a:buClr>
              <a:buSzPct val="160000"/>
              <a:buFont typeface="Century Gothic"/>
              <a:buNone/>
            </a:pPr>
            <a:r>
              <a:t/>
            </a:r>
            <a:endParaRPr sz="2000"/>
          </a:p>
        </p:txBody>
      </p:sp>
      <p:sp>
        <p:nvSpPr>
          <p:cNvPr id="271" name="Google Shape;271;p17"/>
          <p:cNvSpPr txBox="1"/>
          <p:nvPr>
            <p:ph idx="1" type="body"/>
          </p:nvPr>
        </p:nvSpPr>
        <p:spPr>
          <a:xfrm>
            <a:off x="2430525" y="3945900"/>
            <a:ext cx="8915400" cy="1264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Century Gothic"/>
              <a:buNone/>
            </a:pPr>
            <a:r>
              <a:rPr b="1" lang="es-ES" sz="2700"/>
              <a:t>Tema a disertar </a:t>
            </a:r>
            <a:endParaRPr sz="2700"/>
          </a:p>
          <a:p>
            <a:pPr indent="0" lvl="0" marL="0" rtl="0" algn="just">
              <a:spcBef>
                <a:spcPts val="1000"/>
              </a:spcBef>
              <a:spcAft>
                <a:spcPts val="0"/>
              </a:spcAft>
              <a:buSzPts val="2400"/>
              <a:buNone/>
            </a:pPr>
            <a:r>
              <a:rPr lang="es-ES" sz="2100"/>
              <a:t>Ciencias sociales y los intersticios con la educación en América Latina.</a:t>
            </a:r>
            <a:endParaRPr sz="2100"/>
          </a:p>
          <a:p>
            <a:pPr indent="0" lvl="0" marL="0" rtl="0" algn="just">
              <a:spcBef>
                <a:spcPts val="1000"/>
              </a:spcBef>
              <a:spcAft>
                <a:spcPts val="0"/>
              </a:spcAft>
              <a:buSzPts val="2400"/>
              <a:buNone/>
            </a:pPr>
            <a:r>
              <a:rPr lang="es-ES" sz="2100"/>
              <a:t>Fecha: 27 de noviembre de 2026</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spiral">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2026-03-27T02:45:00Z</dcterms:created>
  <dc:creator>REISNER DE JESUS RAVELO MENDEZ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A1A2A745BF3B47B6AECF073E37BFB970_12</vt:lpwstr>
  </property>
  <property fmtid="{D5CDD505-2E9C-101B-9397-08002B2CF9AE}" pid="3" name="KSOProductBuildVer">
    <vt:lpwstr>3082-12.2.0.23196</vt:lpwstr>
  </property>
</Properties>
</file>